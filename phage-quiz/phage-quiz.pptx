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  <p:sldId id="475" r:id="rId227"/>
    <p:sldId id="476" r:id="rId228"/>
    <p:sldId id="477" r:id="rId229"/>
    <p:sldId id="478" r:id="rId230"/>
    <p:sldId id="479" r:id="rId231"/>
    <p:sldId id="480" r:id="rId232"/>
    <p:sldId id="481" r:id="rId233"/>
    <p:sldId id="482" r:id="rId234"/>
    <p:sldId id="483" r:id="rId235"/>
    <p:sldId id="484" r:id="rId236"/>
    <p:sldId id="485" r:id="rId237"/>
    <p:sldId id="486" r:id="rId238"/>
    <p:sldId id="487" r:id="rId239"/>
    <p:sldId id="488" r:id="rId240"/>
    <p:sldId id="489" r:id="rId241"/>
    <p:sldId id="490" r:id="rId242"/>
    <p:sldId id="491" r:id="rId243"/>
    <p:sldId id="492" r:id="rId244"/>
    <p:sldId id="493" r:id="rId245"/>
    <p:sldId id="494" r:id="rId246"/>
    <p:sldId id="495" r:id="rId247"/>
    <p:sldId id="496" r:id="rId248"/>
    <p:sldId id="497" r:id="rId249"/>
    <p:sldId id="498" r:id="rId250"/>
    <p:sldId id="499" r:id="rId251"/>
    <p:sldId id="500" r:id="rId252"/>
    <p:sldId id="501" r:id="rId253"/>
    <p:sldId id="502" r:id="rId254"/>
    <p:sldId id="503" r:id="rId255"/>
    <p:sldId id="504" r:id="rId256"/>
    <p:sldId id="505" r:id="rId257"/>
    <p:sldId id="506" r:id="rId258"/>
    <p:sldId id="507" r:id="rId259"/>
    <p:sldId id="508" r:id="rId260"/>
    <p:sldId id="509" r:id="rId261"/>
    <p:sldId id="510" r:id="rId262"/>
    <p:sldId id="511" r:id="rId263"/>
    <p:sldId id="512" r:id="rId264"/>
    <p:sldId id="513" r:id="rId265"/>
    <p:sldId id="514" r:id="rId266"/>
    <p:sldId id="515" r:id="rId267"/>
    <p:sldId id="516" r:id="rId268"/>
    <p:sldId id="517" r:id="rId269"/>
    <p:sldId id="518" r:id="rId270"/>
    <p:sldId id="519" r:id="rId271"/>
    <p:sldId id="520" r:id="rId272"/>
    <p:sldId id="521" r:id="rId273"/>
    <p:sldId id="522" r:id="rId274"/>
    <p:sldId id="523" r:id="rId275"/>
    <p:sldId id="524" r:id="rId276"/>
    <p:sldId id="525" r:id="rId277"/>
    <p:sldId id="526" r:id="rId278"/>
    <p:sldId id="527" r:id="rId279"/>
    <p:sldId id="528" r:id="rId280"/>
    <p:sldId id="529" r:id="rId281"/>
    <p:sldId id="530" r:id="rId282"/>
    <p:sldId id="531" r:id="rId283"/>
    <p:sldId id="532" r:id="rId284"/>
    <p:sldId id="533" r:id="rId285"/>
    <p:sldId id="534" r:id="rId286"/>
    <p:sldId id="535" r:id="rId287"/>
    <p:sldId id="536" r:id="rId288"/>
    <p:sldId id="537" r:id="rId289"/>
    <p:sldId id="538" r:id="rId290"/>
    <p:sldId id="539" r:id="rId291"/>
    <p:sldId id="540" r:id="rId292"/>
    <p:sldId id="541" r:id="rId293"/>
    <p:sldId id="542" r:id="rId294"/>
    <p:sldId id="543" r:id="rId295"/>
    <p:sldId id="544" r:id="rId296"/>
    <p:sldId id="545" r:id="rId297"/>
    <p:sldId id="546" r:id="rId298"/>
    <p:sldId id="547" r:id="rId299"/>
    <p:sldId id="548" r:id="rId300"/>
    <p:sldId id="549" r:id="rId301"/>
    <p:sldId id="550" r:id="rId302"/>
    <p:sldId id="551" r:id="rId303"/>
    <p:sldId id="552" r:id="rId304"/>
    <p:sldId id="553" r:id="rId305"/>
    <p:sldId id="554" r:id="rId306"/>
    <p:sldId id="555" r:id="rId307"/>
    <p:sldId id="556" r:id="rId308"/>
    <p:sldId id="557" r:id="rId309"/>
    <p:sldId id="558" r:id="rId310"/>
    <p:sldId id="559" r:id="rId311"/>
    <p:sldId id="560" r:id="rId312"/>
    <p:sldId id="561" r:id="rId313"/>
    <p:sldId id="562" r:id="rId314"/>
    <p:sldId id="563" r:id="rId315"/>
    <p:sldId id="564" r:id="rId316"/>
    <p:sldId id="565" r:id="rId317"/>
    <p:sldId id="566" r:id="rId318"/>
    <p:sldId id="567" r:id="rId319"/>
    <p:sldId id="568" r:id="rId320"/>
    <p:sldId id="569" r:id="rId321"/>
    <p:sldId id="570" r:id="rId322"/>
    <p:sldId id="571" r:id="rId323"/>
    <p:sldId id="572" r:id="rId324"/>
    <p:sldId id="573" r:id="rId325"/>
    <p:sldId id="574" r:id="rId326"/>
    <p:sldId id="575" r:id="rId327"/>
    <p:sldId id="576" r:id="rId328"/>
    <p:sldId id="577" r:id="rId329"/>
    <p:sldId id="578" r:id="rId330"/>
    <p:sldId id="579" r:id="rId331"/>
    <p:sldId id="580" r:id="rId332"/>
    <p:sldId id="581" r:id="rId333"/>
    <p:sldId id="582" r:id="rId334"/>
    <p:sldId id="583" r:id="rId335"/>
    <p:sldId id="584" r:id="rId336"/>
    <p:sldId id="585" r:id="rId337"/>
    <p:sldId id="586" r:id="rId338"/>
    <p:sldId id="587" r:id="rId339"/>
    <p:sldId id="588" r:id="rId340"/>
    <p:sldId id="589" r:id="rId341"/>
    <p:sldId id="590" r:id="rId342"/>
    <p:sldId id="591" r:id="rId3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Relationship Id="rId217" Type="http://schemas.openxmlformats.org/officeDocument/2006/relationships/slide" Target="slides/slide210.xml"/><Relationship Id="rId218" Type="http://schemas.openxmlformats.org/officeDocument/2006/relationships/slide" Target="slides/slide211.xml"/><Relationship Id="rId219" Type="http://schemas.openxmlformats.org/officeDocument/2006/relationships/slide" Target="slides/slide212.xml"/><Relationship Id="rId220" Type="http://schemas.openxmlformats.org/officeDocument/2006/relationships/slide" Target="slides/slide213.xml"/><Relationship Id="rId221" Type="http://schemas.openxmlformats.org/officeDocument/2006/relationships/slide" Target="slides/slide214.xml"/><Relationship Id="rId222" Type="http://schemas.openxmlformats.org/officeDocument/2006/relationships/slide" Target="slides/slide215.xml"/><Relationship Id="rId223" Type="http://schemas.openxmlformats.org/officeDocument/2006/relationships/slide" Target="slides/slide216.xml"/><Relationship Id="rId224" Type="http://schemas.openxmlformats.org/officeDocument/2006/relationships/slide" Target="slides/slide217.xml"/><Relationship Id="rId225" Type="http://schemas.openxmlformats.org/officeDocument/2006/relationships/slide" Target="slides/slide218.xml"/><Relationship Id="rId226" Type="http://schemas.openxmlformats.org/officeDocument/2006/relationships/slide" Target="slides/slide219.xml"/><Relationship Id="rId227" Type="http://schemas.openxmlformats.org/officeDocument/2006/relationships/slide" Target="slides/slide220.xml"/><Relationship Id="rId228" Type="http://schemas.openxmlformats.org/officeDocument/2006/relationships/slide" Target="slides/slide221.xml"/><Relationship Id="rId229" Type="http://schemas.openxmlformats.org/officeDocument/2006/relationships/slide" Target="slides/slide222.xml"/><Relationship Id="rId230" Type="http://schemas.openxmlformats.org/officeDocument/2006/relationships/slide" Target="slides/slide223.xml"/><Relationship Id="rId231" Type="http://schemas.openxmlformats.org/officeDocument/2006/relationships/slide" Target="slides/slide224.xml"/><Relationship Id="rId232" Type="http://schemas.openxmlformats.org/officeDocument/2006/relationships/slide" Target="slides/slide225.xml"/><Relationship Id="rId233" Type="http://schemas.openxmlformats.org/officeDocument/2006/relationships/slide" Target="slides/slide226.xml"/><Relationship Id="rId234" Type="http://schemas.openxmlformats.org/officeDocument/2006/relationships/slide" Target="slides/slide227.xml"/><Relationship Id="rId235" Type="http://schemas.openxmlformats.org/officeDocument/2006/relationships/slide" Target="slides/slide228.xml"/><Relationship Id="rId236" Type="http://schemas.openxmlformats.org/officeDocument/2006/relationships/slide" Target="slides/slide229.xml"/><Relationship Id="rId237" Type="http://schemas.openxmlformats.org/officeDocument/2006/relationships/slide" Target="slides/slide230.xml"/><Relationship Id="rId238" Type="http://schemas.openxmlformats.org/officeDocument/2006/relationships/slide" Target="slides/slide231.xml"/><Relationship Id="rId239" Type="http://schemas.openxmlformats.org/officeDocument/2006/relationships/slide" Target="slides/slide232.xml"/><Relationship Id="rId240" Type="http://schemas.openxmlformats.org/officeDocument/2006/relationships/slide" Target="slides/slide233.xml"/><Relationship Id="rId241" Type="http://schemas.openxmlformats.org/officeDocument/2006/relationships/slide" Target="slides/slide234.xml"/><Relationship Id="rId242" Type="http://schemas.openxmlformats.org/officeDocument/2006/relationships/slide" Target="slides/slide235.xml"/><Relationship Id="rId243" Type="http://schemas.openxmlformats.org/officeDocument/2006/relationships/slide" Target="slides/slide236.xml"/><Relationship Id="rId244" Type="http://schemas.openxmlformats.org/officeDocument/2006/relationships/slide" Target="slides/slide237.xml"/><Relationship Id="rId245" Type="http://schemas.openxmlformats.org/officeDocument/2006/relationships/slide" Target="slides/slide238.xml"/><Relationship Id="rId246" Type="http://schemas.openxmlformats.org/officeDocument/2006/relationships/slide" Target="slides/slide239.xml"/><Relationship Id="rId247" Type="http://schemas.openxmlformats.org/officeDocument/2006/relationships/slide" Target="slides/slide240.xml"/><Relationship Id="rId248" Type="http://schemas.openxmlformats.org/officeDocument/2006/relationships/slide" Target="slides/slide241.xml"/><Relationship Id="rId249" Type="http://schemas.openxmlformats.org/officeDocument/2006/relationships/slide" Target="slides/slide242.xml"/><Relationship Id="rId250" Type="http://schemas.openxmlformats.org/officeDocument/2006/relationships/slide" Target="slides/slide243.xml"/><Relationship Id="rId251" Type="http://schemas.openxmlformats.org/officeDocument/2006/relationships/slide" Target="slides/slide244.xml"/><Relationship Id="rId252" Type="http://schemas.openxmlformats.org/officeDocument/2006/relationships/slide" Target="slides/slide245.xml"/><Relationship Id="rId253" Type="http://schemas.openxmlformats.org/officeDocument/2006/relationships/slide" Target="slides/slide246.xml"/><Relationship Id="rId254" Type="http://schemas.openxmlformats.org/officeDocument/2006/relationships/slide" Target="slides/slide247.xml"/><Relationship Id="rId255" Type="http://schemas.openxmlformats.org/officeDocument/2006/relationships/slide" Target="slides/slide248.xml"/><Relationship Id="rId256" Type="http://schemas.openxmlformats.org/officeDocument/2006/relationships/slide" Target="slides/slide249.xml"/><Relationship Id="rId257" Type="http://schemas.openxmlformats.org/officeDocument/2006/relationships/slide" Target="slides/slide250.xml"/><Relationship Id="rId258" Type="http://schemas.openxmlformats.org/officeDocument/2006/relationships/slide" Target="slides/slide251.xml"/><Relationship Id="rId259" Type="http://schemas.openxmlformats.org/officeDocument/2006/relationships/slide" Target="slides/slide252.xml"/><Relationship Id="rId260" Type="http://schemas.openxmlformats.org/officeDocument/2006/relationships/slide" Target="slides/slide253.xml"/><Relationship Id="rId261" Type="http://schemas.openxmlformats.org/officeDocument/2006/relationships/slide" Target="slides/slide254.xml"/><Relationship Id="rId262" Type="http://schemas.openxmlformats.org/officeDocument/2006/relationships/slide" Target="slides/slide255.xml"/><Relationship Id="rId263" Type="http://schemas.openxmlformats.org/officeDocument/2006/relationships/slide" Target="slides/slide256.xml"/><Relationship Id="rId264" Type="http://schemas.openxmlformats.org/officeDocument/2006/relationships/slide" Target="slides/slide257.xml"/><Relationship Id="rId265" Type="http://schemas.openxmlformats.org/officeDocument/2006/relationships/slide" Target="slides/slide258.xml"/><Relationship Id="rId266" Type="http://schemas.openxmlformats.org/officeDocument/2006/relationships/slide" Target="slides/slide259.xml"/><Relationship Id="rId267" Type="http://schemas.openxmlformats.org/officeDocument/2006/relationships/slide" Target="slides/slide260.xml"/><Relationship Id="rId268" Type="http://schemas.openxmlformats.org/officeDocument/2006/relationships/slide" Target="slides/slide261.xml"/><Relationship Id="rId269" Type="http://schemas.openxmlformats.org/officeDocument/2006/relationships/slide" Target="slides/slide262.xml"/><Relationship Id="rId270" Type="http://schemas.openxmlformats.org/officeDocument/2006/relationships/slide" Target="slides/slide263.xml"/><Relationship Id="rId271" Type="http://schemas.openxmlformats.org/officeDocument/2006/relationships/slide" Target="slides/slide264.xml"/><Relationship Id="rId272" Type="http://schemas.openxmlformats.org/officeDocument/2006/relationships/slide" Target="slides/slide265.xml"/><Relationship Id="rId273" Type="http://schemas.openxmlformats.org/officeDocument/2006/relationships/slide" Target="slides/slide266.xml"/><Relationship Id="rId274" Type="http://schemas.openxmlformats.org/officeDocument/2006/relationships/slide" Target="slides/slide267.xml"/><Relationship Id="rId275" Type="http://schemas.openxmlformats.org/officeDocument/2006/relationships/slide" Target="slides/slide268.xml"/><Relationship Id="rId276" Type="http://schemas.openxmlformats.org/officeDocument/2006/relationships/slide" Target="slides/slide269.xml"/><Relationship Id="rId277" Type="http://schemas.openxmlformats.org/officeDocument/2006/relationships/slide" Target="slides/slide270.xml"/><Relationship Id="rId278" Type="http://schemas.openxmlformats.org/officeDocument/2006/relationships/slide" Target="slides/slide271.xml"/><Relationship Id="rId279" Type="http://schemas.openxmlformats.org/officeDocument/2006/relationships/slide" Target="slides/slide272.xml"/><Relationship Id="rId280" Type="http://schemas.openxmlformats.org/officeDocument/2006/relationships/slide" Target="slides/slide273.xml"/><Relationship Id="rId281" Type="http://schemas.openxmlformats.org/officeDocument/2006/relationships/slide" Target="slides/slide274.xml"/><Relationship Id="rId282" Type="http://schemas.openxmlformats.org/officeDocument/2006/relationships/slide" Target="slides/slide275.xml"/><Relationship Id="rId283" Type="http://schemas.openxmlformats.org/officeDocument/2006/relationships/slide" Target="slides/slide276.xml"/><Relationship Id="rId284" Type="http://schemas.openxmlformats.org/officeDocument/2006/relationships/slide" Target="slides/slide277.xml"/><Relationship Id="rId285" Type="http://schemas.openxmlformats.org/officeDocument/2006/relationships/slide" Target="slides/slide278.xml"/><Relationship Id="rId286" Type="http://schemas.openxmlformats.org/officeDocument/2006/relationships/slide" Target="slides/slide279.xml"/><Relationship Id="rId287" Type="http://schemas.openxmlformats.org/officeDocument/2006/relationships/slide" Target="slides/slide280.xml"/><Relationship Id="rId288" Type="http://schemas.openxmlformats.org/officeDocument/2006/relationships/slide" Target="slides/slide281.xml"/><Relationship Id="rId289" Type="http://schemas.openxmlformats.org/officeDocument/2006/relationships/slide" Target="slides/slide282.xml"/><Relationship Id="rId290" Type="http://schemas.openxmlformats.org/officeDocument/2006/relationships/slide" Target="slides/slide283.xml"/><Relationship Id="rId291" Type="http://schemas.openxmlformats.org/officeDocument/2006/relationships/slide" Target="slides/slide284.xml"/><Relationship Id="rId292" Type="http://schemas.openxmlformats.org/officeDocument/2006/relationships/slide" Target="slides/slide285.xml"/><Relationship Id="rId293" Type="http://schemas.openxmlformats.org/officeDocument/2006/relationships/slide" Target="slides/slide286.xml"/><Relationship Id="rId294" Type="http://schemas.openxmlformats.org/officeDocument/2006/relationships/slide" Target="slides/slide287.xml"/><Relationship Id="rId295" Type="http://schemas.openxmlformats.org/officeDocument/2006/relationships/slide" Target="slides/slide288.xml"/><Relationship Id="rId296" Type="http://schemas.openxmlformats.org/officeDocument/2006/relationships/slide" Target="slides/slide289.xml"/><Relationship Id="rId297" Type="http://schemas.openxmlformats.org/officeDocument/2006/relationships/slide" Target="slides/slide290.xml"/><Relationship Id="rId298" Type="http://schemas.openxmlformats.org/officeDocument/2006/relationships/slide" Target="slides/slide291.xml"/><Relationship Id="rId299" Type="http://schemas.openxmlformats.org/officeDocument/2006/relationships/slide" Target="slides/slide292.xml"/><Relationship Id="rId300" Type="http://schemas.openxmlformats.org/officeDocument/2006/relationships/slide" Target="slides/slide293.xml"/><Relationship Id="rId301" Type="http://schemas.openxmlformats.org/officeDocument/2006/relationships/slide" Target="slides/slide294.xml"/><Relationship Id="rId302" Type="http://schemas.openxmlformats.org/officeDocument/2006/relationships/slide" Target="slides/slide295.xml"/><Relationship Id="rId303" Type="http://schemas.openxmlformats.org/officeDocument/2006/relationships/slide" Target="slides/slide296.xml"/><Relationship Id="rId304" Type="http://schemas.openxmlformats.org/officeDocument/2006/relationships/slide" Target="slides/slide297.xml"/><Relationship Id="rId305" Type="http://schemas.openxmlformats.org/officeDocument/2006/relationships/slide" Target="slides/slide298.xml"/><Relationship Id="rId306" Type="http://schemas.openxmlformats.org/officeDocument/2006/relationships/slide" Target="slides/slide299.xml"/><Relationship Id="rId307" Type="http://schemas.openxmlformats.org/officeDocument/2006/relationships/slide" Target="slides/slide300.xml"/><Relationship Id="rId308" Type="http://schemas.openxmlformats.org/officeDocument/2006/relationships/slide" Target="slides/slide301.xml"/><Relationship Id="rId309" Type="http://schemas.openxmlformats.org/officeDocument/2006/relationships/slide" Target="slides/slide302.xml"/><Relationship Id="rId310" Type="http://schemas.openxmlformats.org/officeDocument/2006/relationships/slide" Target="slides/slide303.xml"/><Relationship Id="rId311" Type="http://schemas.openxmlformats.org/officeDocument/2006/relationships/slide" Target="slides/slide304.xml"/><Relationship Id="rId312" Type="http://schemas.openxmlformats.org/officeDocument/2006/relationships/slide" Target="slides/slide305.xml"/><Relationship Id="rId313" Type="http://schemas.openxmlformats.org/officeDocument/2006/relationships/slide" Target="slides/slide306.xml"/><Relationship Id="rId314" Type="http://schemas.openxmlformats.org/officeDocument/2006/relationships/slide" Target="slides/slide307.xml"/><Relationship Id="rId315" Type="http://schemas.openxmlformats.org/officeDocument/2006/relationships/slide" Target="slides/slide308.xml"/><Relationship Id="rId316" Type="http://schemas.openxmlformats.org/officeDocument/2006/relationships/slide" Target="slides/slide309.xml"/><Relationship Id="rId317" Type="http://schemas.openxmlformats.org/officeDocument/2006/relationships/slide" Target="slides/slide310.xml"/><Relationship Id="rId318" Type="http://schemas.openxmlformats.org/officeDocument/2006/relationships/slide" Target="slides/slide311.xml"/><Relationship Id="rId319" Type="http://schemas.openxmlformats.org/officeDocument/2006/relationships/slide" Target="slides/slide312.xml"/><Relationship Id="rId320" Type="http://schemas.openxmlformats.org/officeDocument/2006/relationships/slide" Target="slides/slide313.xml"/><Relationship Id="rId321" Type="http://schemas.openxmlformats.org/officeDocument/2006/relationships/slide" Target="slides/slide314.xml"/><Relationship Id="rId322" Type="http://schemas.openxmlformats.org/officeDocument/2006/relationships/slide" Target="slides/slide315.xml"/><Relationship Id="rId323" Type="http://schemas.openxmlformats.org/officeDocument/2006/relationships/slide" Target="slides/slide316.xml"/><Relationship Id="rId324" Type="http://schemas.openxmlformats.org/officeDocument/2006/relationships/slide" Target="slides/slide317.xml"/><Relationship Id="rId325" Type="http://schemas.openxmlformats.org/officeDocument/2006/relationships/slide" Target="slides/slide318.xml"/><Relationship Id="rId326" Type="http://schemas.openxmlformats.org/officeDocument/2006/relationships/slide" Target="slides/slide319.xml"/><Relationship Id="rId327" Type="http://schemas.openxmlformats.org/officeDocument/2006/relationships/slide" Target="slides/slide320.xml"/><Relationship Id="rId328" Type="http://schemas.openxmlformats.org/officeDocument/2006/relationships/slide" Target="slides/slide321.xml"/><Relationship Id="rId329" Type="http://schemas.openxmlformats.org/officeDocument/2006/relationships/slide" Target="slides/slide322.xml"/><Relationship Id="rId330" Type="http://schemas.openxmlformats.org/officeDocument/2006/relationships/slide" Target="slides/slide323.xml"/><Relationship Id="rId331" Type="http://schemas.openxmlformats.org/officeDocument/2006/relationships/slide" Target="slides/slide324.xml"/><Relationship Id="rId332" Type="http://schemas.openxmlformats.org/officeDocument/2006/relationships/slide" Target="slides/slide325.xml"/><Relationship Id="rId333" Type="http://schemas.openxmlformats.org/officeDocument/2006/relationships/slide" Target="slides/slide326.xml"/><Relationship Id="rId334" Type="http://schemas.openxmlformats.org/officeDocument/2006/relationships/slide" Target="slides/slide327.xml"/><Relationship Id="rId335" Type="http://schemas.openxmlformats.org/officeDocument/2006/relationships/slide" Target="slides/slide328.xml"/><Relationship Id="rId336" Type="http://schemas.openxmlformats.org/officeDocument/2006/relationships/slide" Target="slides/slide329.xml"/><Relationship Id="rId337" Type="http://schemas.openxmlformats.org/officeDocument/2006/relationships/slide" Target="slides/slide330.xml"/><Relationship Id="rId338" Type="http://schemas.openxmlformats.org/officeDocument/2006/relationships/slide" Target="slides/slide331.xml"/><Relationship Id="rId339" Type="http://schemas.openxmlformats.org/officeDocument/2006/relationships/slide" Target="slides/slide332.xml"/><Relationship Id="rId340" Type="http://schemas.openxmlformats.org/officeDocument/2006/relationships/slide" Target="slides/slide333.xml"/><Relationship Id="rId341" Type="http://schemas.openxmlformats.org/officeDocument/2006/relationships/slide" Target="slides/slide334.xml"/><Relationship Id="rId342" Type="http://schemas.openxmlformats.org/officeDocument/2006/relationships/slide" Target="slides/slide335.xml"/><Relationship Id="rId343" Type="http://schemas.openxmlformats.org/officeDocument/2006/relationships/slide" Target="slides/slide3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1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3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5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7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9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1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3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7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9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1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3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5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7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9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2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6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8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0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2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4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6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9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1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5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7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9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1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3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5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7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0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4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6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8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0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2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A — Selection for genome compaction under capsid packaging constraints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Dense inverse-spool DNA packing with electrostatic self-repulsion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C — 63%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D — Fusing inner and outer membranes after endolysin 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A — Burst size against the number of lysis cycles completed per unit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Functional modules (head, tail, lysis, lysogeny) recombine across phage lineages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C — The protein chimallin (a proteinaceous phage nucleus)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D — Second-order overall: first-order in both phage and host concentration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A — A bacteriophage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Cheese and yogurt making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A — Shearing in a Waring blendor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C — Escherichia coli K12(λ)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A — The T4 rII gene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SOS-induced host repair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C — Restriction–modification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D — Arise spontaneously before phage exposure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D — Staphylococcus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The Eaton &amp; Bayne-Jones review of phage preparations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A — Disseminated Acinetobacter baumannii infection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Bacteriophages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D — Restrict phage diffusion through the matrix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C — Flow cytometry (particle counts) with plaque assay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A — DNase I treatment before capsid lysis (capsid DNA is protected)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A — Protein and membrane vesicles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Enveloped phages such as Φ6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Anti-phage serum (or extreme dilution)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A — Lysis from without at high phage 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D — Gelatin (or BSA)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The strain is sensitive (lysis)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C — A single infectious phage particle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A — ≥90% completeness, &lt;5% contamination, plus tRNAs and identified termini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Elevated coverage across both genome ends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C — aca genes encoding HTH-type transcriptional regulators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D — Link phages to their hosts at single-cell resolution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A — Intergenomic nucleotide similarity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Completeness, contamination and provirus boundaries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C — Genome termini and the packaging mechanism (cos, pac, headful)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D — The likely host / recent host adaptation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Virome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A — Recently acquired foreign DNA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A — Autographiviridae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A — Assembled from host-derived membrane lipids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C — Binds the F-pilus and escorts the RNA into the cell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~12–13 portal subunits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D — Encodes its own multisubunit RNA polymerase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D — Extrusion through the envelope (e.g., via the pIV secretin)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Hold long tail fibers folded against the tail before adsorption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The head–tail junction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C — Podovirus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A — A temperate phage forming lysogens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A — Eclipse period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Extracellular depolymerase degrading the capsule/EPS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A — Short tail fibers engaging the inner LPS core after baseplate triggering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The cI repressor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D — Keeps agar liquid while sparing phage and host from heat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A — Protein and membrane vesicles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C — Receptor-triggered conformational change without sheath contraction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D — Depolymerases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C — Lysis from without / killing without productive infection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Growth of immune lysogens within the plaque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Disseminated Mycobacterium abscessus infection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D — Active pharmaceutical ingredients within magistral preparations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C — Pseudomonas aeruginosa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A — Escherichia coli in urinary tract infection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Selecting phage-resistant mutants whose fitness cost re-sensitizes them to antibiotics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Neutralizing antibodies that accelerate phage clearance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A — An FDA emergency/expanded-access IND (eIND)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A — Absence of toxin, AMR and virulence genes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D — Biocontrol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C — Self-amplify at the site of infection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A — Acr-associated HTH transcriptional regulators of acr operons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Direct and inverted terminal repeats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A — Virus of Bacteria (followed by host genus and morphotype)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C — Minimum Information about a Metagenome-Assembled Genome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A — Auxiliary metabolic genes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D — Phage orthologous groups for functional annotation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Bacteriophage adherence to mucus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D — Limulus (horseshoe crab) amebocyte lysate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C — Antimicrobial resistance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Transmission electron microscopy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A — Phage lysis redirecting microbial biomass into dissolved organic matter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C — 10^7 phages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psbA (photosystem II D1 protein)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The most abundant host is preferentially hit by lytic phages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C — crAssphage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D — Phage CTXφ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The β-prophage (corynephage β)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A — Shiga-toxigenic E. coli (STEC)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A — High bacterial densities support massive phage replication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D — Connect human, animal and environmental microbiomes, including AMR dynamics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Spacers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D — Inhibiting Cas proteins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C — Cleaving unmethylated foreign DNA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Triggering death or dormancy of the infected cell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Sense a peptide cue of host density to choose lysis vs lysogeny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C — A quorum-sensing autoinducer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A — Reduced fitness or virulence, sometimes restored antibiotic sensitivity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A — DNA modification, e.g. glucosylated 5-hydroxymethylcytosine in T4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A — A resident prophage blocks secondary infection by related phages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D — Bacterial anti-phage defense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Endolysin (lysozyme)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Prophage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Prophage induction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Capsid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Tail sheath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Burst size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M13 (f1/fd)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Divalent cations (Ca2+ / Mg2+)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Exopolysaccharide (EPS / capsule)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Transduction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Cryo-EM (cryo-TEM)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Lytic cycle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Plasmid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Empty capsid (ghost)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Escherichia coli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Kill-the-winner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eIND (emergency/expanded-access IND)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Polyethylene glycol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(Ultra)centrifuge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Restriction endonucleases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pIII / pVIII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Nebulized / inhaled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EDTA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Virulent (strictly lytic) phages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PhuZ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Prolate icosahedral head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Portal vertex (portal protein)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Terminase (large subunit)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Siphovirus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Icosahedral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Tail tube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Envelope (membrane)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A — Headful packaging from concatemers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C — A terminal protein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D — Lysogeny (stabilized cII)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A — Protect the genome from host restriction endonucleases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D — CBASS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C — Exo, Beta, Gam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Nebulization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Shannon diversity index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CRISPR-Cas adaptive immunity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A — Prophage induction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C — Depolymerase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D — Headful (pac) packaging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LAL endotoxin assay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A — Cryo-EM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C — Phage display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D — Phage M13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A — 🛌🧬🤝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T4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D — “The relationship was only surface-level attachment.”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D — Lytic metal — full of breakdowns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They only ever swipe right on one specific host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C — “As ~200 copies of myself inside one very surprised bacterium.”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A — It kept integrating into relationships and going dormant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“Relax — I'll break down the matrix and free everyone.”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A — Their delivery is always lytic — they kill the room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C — “I carry a 500-kb genome — that's enough baggage.”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3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4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5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6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58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59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60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0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4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5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9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0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1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2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3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4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5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6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8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BD0DFF"/>
                </a:solidFill>
                <a:latin typeface="Arial"/>
              </a:rPr>
              <a:t>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3601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7th International Conference on Bacteriophage Research and Antimicrobial Resistance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0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9AA7BD"/>
                </a:solidFill>
                <a:latin typeface="Arial"/>
              </a:rPr>
              <a:t>Lytic Legends Edition — 13 rounds of plaques, probes and punchlines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01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Teams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554480"/>
            <a:ext cx="2606040" cy="2743200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828800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7DD3FC"/>
                </a:solidFill>
                <a:latin typeface="Arial"/>
              </a:rPr>
              <a:t>Lytic Legends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2651760"/>
            <a:ext cx="2331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9AA7BD"/>
                </a:solidFill>
                <a:latin typeface="Arial"/>
              </a:rPr>
              <a:t>Dr. Ruma</a:t>
            </a:r>
          </a:p>
          <a:p>
            <a:pPr algn="ctr"/>
            <a:r>
              <a:rPr sz="1300" b="1">
                <a:solidFill>
                  <a:srgbClr val="9AA7BD"/>
                </a:solidFill>
                <a:latin typeface="Arial"/>
              </a:rPr>
              <a:t>Ms. Priya</a:t>
            </a:r>
          </a:p>
          <a:p>
            <a:pPr algn="ctr"/>
            <a:r>
              <a:rPr sz="1300" b="1">
                <a:solidFill>
                  <a:srgbClr val="9AA7BD"/>
                </a:solidFill>
                <a:latin typeface="Arial"/>
              </a:rPr>
              <a:t>Mr. Karan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554480"/>
            <a:ext cx="2606040" cy="2743200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40" y="1828800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7DD3FC"/>
                </a:solidFill>
                <a:latin typeface="Arial"/>
              </a:rPr>
              <a:t>Biofilm Breakers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2651760"/>
            <a:ext cx="2331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9AA7BD"/>
                </a:solidFill>
                <a:latin typeface="Arial"/>
              </a:rPr>
              <a:t>Dr. Rupali</a:t>
            </a:r>
          </a:p>
          <a:p>
            <a:pPr algn="ctr"/>
            <a:r>
              <a:rPr sz="1300" b="1">
                <a:solidFill>
                  <a:srgbClr val="9AA7BD"/>
                </a:solidFill>
                <a:latin typeface="Arial"/>
              </a:rPr>
              <a:t>Dr. Prachi</a:t>
            </a:r>
          </a:p>
          <a:p>
            <a:pPr algn="ctr"/>
            <a:r>
              <a:rPr sz="1300" b="1">
                <a:solidFill>
                  <a:srgbClr val="9AA7BD"/>
                </a:solidFill>
                <a:latin typeface="Arial"/>
              </a:rPr>
              <a:t>Mr. Prajasattak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554480"/>
            <a:ext cx="2606040" cy="2743200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828800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7DD3FC"/>
                </a:solidFill>
                <a:latin typeface="Arial"/>
              </a:rPr>
              <a:t>Phage Pharmers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2651760"/>
            <a:ext cx="2331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9AA7BD"/>
                </a:solidFill>
                <a:latin typeface="Arial"/>
              </a:rPr>
              <a:t>Team member 1</a:t>
            </a:r>
          </a:p>
          <a:p>
            <a:pPr algn="ctr"/>
            <a:r>
              <a:rPr sz="1300" b="1">
                <a:solidFill>
                  <a:srgbClr val="9AA7BD"/>
                </a:solidFill>
                <a:latin typeface="Arial"/>
              </a:rPr>
              <a:t>Team member 2</a:t>
            </a:r>
          </a:p>
          <a:p>
            <a:pPr algn="ctr"/>
            <a:r>
              <a:rPr sz="1300" b="1">
                <a:solidFill>
                  <a:srgbClr val="9AA7BD"/>
                </a:solidFill>
                <a:latin typeface="Arial"/>
              </a:rPr>
              <a:t>Team member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15984" y="1554480"/>
            <a:ext cx="2606040" cy="2743200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53144" y="1828800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7DD3FC"/>
                </a:solidFill>
                <a:latin typeface="Arial"/>
              </a:rPr>
              <a:t>Virion Architects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53144" y="2651760"/>
            <a:ext cx="2331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9AA7BD"/>
                </a:solidFill>
                <a:latin typeface="Arial"/>
              </a:rPr>
              <a:t>Team member 1</a:t>
            </a:r>
          </a:p>
          <a:p>
            <a:pPr algn="ctr"/>
            <a:r>
              <a:rPr sz="1300" b="1">
                <a:solidFill>
                  <a:srgbClr val="9AA7BD"/>
                </a:solidFill>
                <a:latin typeface="Arial"/>
              </a:rPr>
              <a:t>Team member 2</a:t>
            </a:r>
          </a:p>
          <a:p>
            <a:pPr algn="ctr"/>
            <a:r>
              <a:rPr sz="1300" b="1">
                <a:solidFill>
                  <a:srgbClr val="9AA7BD"/>
                </a:solidFill>
                <a:latin typeface="Arial"/>
              </a:rPr>
              <a:t>Team member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Rounds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371600"/>
            <a:ext cx="475488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1.  GENERAL QUESTIONS</a:t>
            </a:r>
          </a:p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2.  HISTORY OF BACTERIOPHAGES</a:t>
            </a:r>
          </a:p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3.  PHAGE RELATED PROTOCOLS</a:t>
            </a:r>
          </a:p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4.  PHAGE INFORMATICS</a:t>
            </a:r>
          </a:p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5.  PHAGE IDENTIFICATION</a:t>
            </a:r>
          </a:p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6.  IDENTIFY THE FIGURE</a:t>
            </a:r>
          </a:p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7.  PHAGE THERAPY &amp; CLINICAL FRONTIERS</a:t>
            </a:r>
            <a:r>
              <a:rPr sz="1100" b="1">
                <a:solidFill>
                  <a:srgbClr val="BD0DFF"/>
                </a:solidFill>
                <a:latin typeface="Arial"/>
              </a:rPr>
              <a:t>   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371600"/>
            <a:ext cx="475488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8.  PHAGE ACRONYMS</a:t>
            </a:r>
          </a:p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9.  PHAGE ECOLOGY &amp; ONE HEALTH</a:t>
            </a:r>
            <a:r>
              <a:rPr sz="1100" b="1">
                <a:solidFill>
                  <a:srgbClr val="BD0DFF"/>
                </a:solidFill>
                <a:latin typeface="Arial"/>
              </a:rPr>
              <a:t>   NEW TOPIC</a:t>
            </a:r>
          </a:p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10.  BACTERIAL DEFENSES &amp; PHAGE COUNTER-DEFENSE</a:t>
            </a:r>
            <a:r>
              <a:rPr sz="1100" b="1">
                <a:solidFill>
                  <a:srgbClr val="BD0DFF"/>
                </a:solidFill>
                <a:latin typeface="Arial"/>
              </a:rPr>
              <a:t>   NEW TOPIC</a:t>
            </a:r>
          </a:p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BREAK (5 min)</a:t>
            </a:r>
          </a:p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11.  RAPID FIRE</a:t>
            </a:r>
          </a:p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12.  TIE-BREAKER ROUND</a:t>
            </a:r>
          </a:p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13.  EMOJI REBUS &amp; PHAGE PERSONALS</a:t>
            </a:r>
            <a:r>
              <a:rPr sz="1100" b="1">
                <a:solidFill>
                  <a:srgbClr val="BD0DFF"/>
                </a:solidFill>
                <a:latin typeface="Arial"/>
              </a:rPr>
              <a:t>   FUN ROUND</a:t>
            </a:r>
          </a:p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14.  LYTIC LAUGHS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01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Markings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1645920"/>
            <a:ext cx="82296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7DD3FC"/>
                </a:solidFill>
                <a:latin typeface="Arial"/>
              </a:rPr>
              <a:t>Rounds 1-5</a:t>
            </a:r>
            <a:r>
              <a:rPr sz="1800" b="1">
                <a:solidFill>
                  <a:srgbClr val="FFFFFF"/>
                </a:solidFill>
                <a:latin typeface="Arial"/>
              </a:rPr>
              <a:t>      +10 / 0</a:t>
            </a:r>
            <a:r>
              <a:rPr sz="1500" b="1">
                <a:solidFill>
                  <a:srgbClr val="9AA7BD"/>
                </a:solidFill>
                <a:latin typeface="Arial"/>
              </a:rPr>
              <a:t>      30 sec</a:t>
            </a:r>
          </a:p>
          <a:p>
            <a:pPr algn="l"/>
            <a:r>
              <a:rPr sz="1800" b="1">
                <a:solidFill>
                  <a:srgbClr val="7DD3FC"/>
                </a:solidFill>
                <a:latin typeface="Arial"/>
              </a:rPr>
              <a:t>Rounds 6-10</a:t>
            </a:r>
            <a:r>
              <a:rPr sz="1800" b="1">
                <a:solidFill>
                  <a:srgbClr val="FFFFFF"/>
                </a:solidFill>
                <a:latin typeface="Arial"/>
              </a:rPr>
              <a:t>      +10 / -5</a:t>
            </a:r>
            <a:r>
              <a:rPr sz="1500" b="1">
                <a:solidFill>
                  <a:srgbClr val="9AA7BD"/>
                </a:solidFill>
                <a:latin typeface="Arial"/>
              </a:rPr>
              <a:t>      30 sec</a:t>
            </a:r>
          </a:p>
          <a:p>
            <a:pPr algn="l"/>
            <a:r>
              <a:rPr sz="1800" b="1">
                <a:solidFill>
                  <a:srgbClr val="7DD3FC"/>
                </a:solidFill>
                <a:latin typeface="Arial"/>
              </a:rPr>
              <a:t>Rapid Fire</a:t>
            </a:r>
            <a:r>
              <a:rPr sz="1800" b="1">
                <a:solidFill>
                  <a:srgbClr val="FFFFFF"/>
                </a:solidFill>
                <a:latin typeface="Arial"/>
              </a:rPr>
              <a:t>      +5 / 0, no passing</a:t>
            </a:r>
            <a:r>
              <a:rPr sz="1500" b="1">
                <a:solidFill>
                  <a:srgbClr val="9AA7BD"/>
                </a:solidFill>
                <a:latin typeface="Arial"/>
              </a:rPr>
              <a:t>      60 sec / team</a:t>
            </a:r>
          </a:p>
          <a:p>
            <a:pPr algn="l"/>
            <a:r>
              <a:rPr sz="1800" b="1">
                <a:solidFill>
                  <a:srgbClr val="7DD3FC"/>
                </a:solidFill>
                <a:latin typeface="Arial"/>
              </a:rPr>
              <a:t>Tie-Breaker</a:t>
            </a:r>
            <a:r>
              <a:rPr sz="1800" b="1">
                <a:solidFill>
                  <a:srgbClr val="FFFFFF"/>
                </a:solidFill>
                <a:latin typeface="Arial"/>
              </a:rPr>
              <a:t>      +20 / -10, passed +5</a:t>
            </a:r>
            <a:r>
              <a:rPr sz="1500" b="1">
                <a:solidFill>
                  <a:srgbClr val="9AA7BD"/>
                </a:solidFill>
                <a:latin typeface="Arial"/>
              </a:rPr>
              <a:t>      60 sec</a:t>
            </a:r>
          </a:p>
          <a:p>
            <a:pPr algn="l"/>
            <a:r>
              <a:rPr sz="1800" b="1">
                <a:solidFill>
                  <a:srgbClr val="7DD3FC"/>
                </a:solidFill>
                <a:latin typeface="Arial"/>
              </a:rPr>
              <a:t>Emoji Rebus &amp; Lytic Laughs</a:t>
            </a:r>
            <a:r>
              <a:rPr sz="1800" b="1">
                <a:solidFill>
                  <a:srgbClr val="FFFFFF"/>
                </a:solidFill>
                <a:latin typeface="Arial"/>
              </a:rPr>
              <a:t>      +10 / 0</a:t>
            </a:r>
            <a:r>
              <a:rPr sz="1500" b="1">
                <a:solidFill>
                  <a:srgbClr val="9AA7BD"/>
                </a:solidFill>
                <a:latin typeface="Arial"/>
              </a:rPr>
              <a:t>      30 sec</a:t>
            </a:r>
          </a:p>
          <a:p>
            <a:pPr algn="l"/>
            <a:r>
              <a:rPr sz="1400" b="1">
                <a:solidFill>
                  <a:srgbClr val="9AA7BD"/>
                </a:solidFill>
                <a:latin typeface="Arial"/>
              </a:rPr>
              <a:t>Each MCQ round: 8 team questions + 2 audience questions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23560" y="1"/>
            <a:ext cx="960120" cy="960120"/>
          </a:xfrm>
          <a:prstGeom prst="roundRect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0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GENERAL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1519" y="4114800"/>
            <a:ext cx="2066543" cy="384048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D3FC"/>
                </a:solidFill>
                <a:latin typeface="Arial"/>
              </a:rPr>
              <a:t>Correct +10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20943" y="4114800"/>
            <a:ext cx="1481328" cy="384048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D3FC"/>
                </a:solidFill>
                <a:latin typeface="Arial"/>
              </a:rPr>
              <a:t>Wrong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85151" y="4114800"/>
            <a:ext cx="1335024" cy="384048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D3FC"/>
                </a:solidFill>
                <a:latin typeface="Arial"/>
              </a:rPr>
              <a:t>30 sec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Phage genomes are unusually compact, with overlapping genes and non-canonical start codons. The best explanation is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Selection for genome compaction under capsid packaging constraints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400" b="1">
                <a:solidFill>
                  <a:srgbClr val="FFFFFF"/>
                </a:solidFill>
                <a:latin typeface="Arial"/>
              </a:rPr>
              <a:t>A high mutation rate that erases intergenic regions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400" b="1">
                <a:solidFill>
                  <a:srgbClr val="FFFFFF"/>
                </a:solidFill>
                <a:latin typeface="Arial"/>
              </a:rPr>
              <a:t>Limitation of host ribosomes during infection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400" b="1">
                <a:solidFill>
                  <a:srgbClr val="FFFFFF"/>
                </a:solidFill>
                <a:latin typeface="Arial"/>
              </a:rPr>
              <a:t>An artifact of automated annotation pipelines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Phage genomes are unusually compact, with overlapping genes and non-canonical start codons. The best explanation is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Selection for genome compaction under capsid packaging constraints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400" b="1">
                <a:solidFill>
                  <a:srgbClr val="FFFFFF"/>
                </a:solidFill>
                <a:latin typeface="Arial"/>
              </a:rPr>
              <a:t>A high mutation rate that erases intergenic regions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400" b="1">
                <a:solidFill>
                  <a:srgbClr val="FFFFFF"/>
                </a:solidFill>
                <a:latin typeface="Arial"/>
              </a:rPr>
              <a:t>Limitation of host ribosomes during infection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400" b="1">
                <a:solidFill>
                  <a:srgbClr val="FFFFFF"/>
                </a:solidFill>
                <a:latin typeface="Arial"/>
              </a:rPr>
              <a:t>An artifact of automated annotation pipelines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The ~50–60 atm internal pressure that drives genome ejection from tailed phage capsids is generated mainly by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The host proton-motive force pulling DNA inward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400" b="1">
                <a:solidFill>
                  <a:srgbClr val="FFFFFF"/>
                </a:solidFill>
                <a:latin typeface="Arial"/>
              </a:rPr>
              <a:t>Dense inverse-spool DNA packing with electrostatic self-repulsion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400" b="1">
                <a:solidFill>
                  <a:srgbClr val="FFFFFF"/>
                </a:solidFill>
                <a:latin typeface="Arial"/>
              </a:rPr>
              <a:t>ATP hydrolysis by the portal motor during ejection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Osmotic water influx upon receptor binding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The ~50–60 atm internal pressure that drives genome ejection from tailed phage capsids is generated mainly by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The host proton-motive force pulling DNA inward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B   </a:t>
            </a:r>
            <a:r>
              <a:rPr sz="1400" b="1">
                <a:solidFill>
                  <a:srgbClr val="FFFFFF"/>
                </a:solidFill>
                <a:latin typeface="Arial"/>
              </a:rPr>
              <a:t>Dense inverse-spool DNA packing with electrostatic self-repulsion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400" b="1">
                <a:solidFill>
                  <a:srgbClr val="FFFFFF"/>
                </a:solidFill>
                <a:latin typeface="Arial"/>
              </a:rPr>
              <a:t>ATP hydrolysis by the portal motor during ejection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Osmotic water influx upon receptor binding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At an MOI of exactly 1, the fraction of host cells receiving at least one phage (Poisson distribution) is approximately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37%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50%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63%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90%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At an MOI of exactly 1, the fraction of host cells receiving at least one phage (Poisson distribution) is approximately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37%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50%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63%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90%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In the lambda lysis cassette (S, R, Rz, Rz1), the spanins Rz/Rz1 act by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Degrading peptidoglycan from the periplasm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400" b="1">
                <a:solidFill>
                  <a:srgbClr val="FFFFFF"/>
                </a:solidFill>
                <a:latin typeface="Arial"/>
              </a:rPr>
              <a:t>Timing holin insertion into the inner membrane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400" b="1">
                <a:solidFill>
                  <a:srgbClr val="FFFFFF"/>
                </a:solidFill>
                <a:latin typeface="Arial"/>
              </a:rPr>
              <a:t>Recycling murein for the next infection cycle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400" b="1">
                <a:solidFill>
                  <a:srgbClr val="FFFFFF"/>
                </a:solidFill>
                <a:latin typeface="Arial"/>
              </a:rPr>
              <a:t>Fusing inner and outer membranes after endolysin action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In the lambda lysis cassette (S, R, Rz, Rz1), the spanins Rz/Rz1 act by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Degrading peptidoglycan from the periplasm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400" b="1">
                <a:solidFill>
                  <a:srgbClr val="FFFFFF"/>
                </a:solidFill>
                <a:latin typeface="Arial"/>
              </a:rPr>
              <a:t>Timing holin insertion into the inner membrane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400" b="1">
                <a:solidFill>
                  <a:srgbClr val="FFFFFF"/>
                </a:solidFill>
                <a:latin typeface="Arial"/>
              </a:rPr>
              <a:t>Recycling murein for the next infection cycle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D   </a:t>
            </a:r>
            <a:r>
              <a:rPr sz="1400" b="1">
                <a:solidFill>
                  <a:srgbClr val="FFFFFF"/>
                </a:solidFill>
                <a:latin typeface="Arial"/>
              </a:rPr>
              <a:t>Fusing inner and outer membranes after endolysin action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Optimality models of lysis timing predict that the evolutionarily stable latent period balances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Burst size against the number of lysis cycles completed per unit time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Adsorption rate against the eclipse period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Genome size against capsid interior volume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400" b="1">
                <a:solidFill>
                  <a:srgbClr val="FFFFFF"/>
                </a:solidFill>
                <a:latin typeface="Arial"/>
              </a:rPr>
              <a:t>Latent period against the multiplicity of infection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Optimality models of lysis timing predict that the evolutionarily stable latent period balances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Burst size against the number of lysis cycles completed per unit time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Adsorption rate against the eclipse period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Genome size against capsid interior volume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400" b="1">
                <a:solidFill>
                  <a:srgbClr val="FFFFFF"/>
                </a:solidFill>
                <a:latin typeface="Arial"/>
              </a:rPr>
              <a:t>Latent period against the multiplicity of infection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Botstein's “modular theory” of phage evolution proposes that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Phage genes evolve strictly vertically with their hosts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400" b="1">
                <a:solidFill>
                  <a:srgbClr val="FFFFFF"/>
                </a:solidFill>
                <a:latin typeface="Arial"/>
              </a:rPr>
              <a:t>Functional modules (head, tail, lysis, lysogeny) recombine across phage lineages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400" b="1">
                <a:solidFill>
                  <a:srgbClr val="FFFFFF"/>
                </a:solidFill>
                <a:latin typeface="Arial"/>
              </a:rPr>
              <a:t>All tailed phages preserve a single ancestral gene order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400" b="1">
                <a:solidFill>
                  <a:srgbClr val="FFFFFF"/>
                </a:solidFill>
                <a:latin typeface="Arial"/>
              </a:rPr>
              <a:t>Phage genomes change only by point mutation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Botstein's “modular theory” of phage evolution proposes that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Phage genes evolve strictly vertically with their hosts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B   </a:t>
            </a:r>
            <a:r>
              <a:rPr sz="1400" b="1">
                <a:solidFill>
                  <a:srgbClr val="FFFFFF"/>
                </a:solidFill>
                <a:latin typeface="Arial"/>
              </a:rPr>
              <a:t>Functional modules (head, tail, lysis, lysogeny) recombine across phage lineages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400" b="1">
                <a:solidFill>
                  <a:srgbClr val="FFFFFF"/>
                </a:solidFill>
                <a:latin typeface="Arial"/>
              </a:rPr>
              <a:t>All tailed phages preserve a single ancestral gene order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400" b="1">
                <a:solidFill>
                  <a:srgbClr val="FFFFFF"/>
                </a:solidFill>
                <a:latin typeface="Arial"/>
              </a:rPr>
              <a:t>Phage genomes change only by point mutation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Jumbo phages such as ΦKZ protect their replicating DNA inside a compartment whose shell is built from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Host-derived lipid bilayer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Condensed RNA and polyamines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400" b="1">
                <a:solidFill>
                  <a:srgbClr val="FFFFFF"/>
                </a:solidFill>
                <a:latin typeface="Arial"/>
              </a:rPr>
              <a:t>The protein chimallin (a proteinaceous phage nucleus)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Crystallized terminase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Jumbo phages such as ΦKZ protect their replicating DNA inside a compartment whose shell is built from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Host-derived lipid bilayer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Condensed RNA and polyamines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C   </a:t>
            </a:r>
            <a:r>
              <a:rPr sz="1400" b="1">
                <a:solidFill>
                  <a:srgbClr val="FFFFFF"/>
                </a:solidFill>
                <a:latin typeface="Arial"/>
              </a:rPr>
              <a:t>The protein chimallin (a proteinaceous phage nucleus)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Crystallized terminase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The kinetics of phage adsorption to susceptible hosts are best described as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Zero-order until receptors saturate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400" b="1">
                <a:solidFill>
                  <a:srgbClr val="FFFFFF"/>
                </a:solidFill>
                <a:latin typeface="Arial"/>
              </a:rPr>
              <a:t>First-order in phage only, independent of host density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Logistic, limited by burst size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400" b="1">
                <a:solidFill>
                  <a:srgbClr val="FFFFFF"/>
                </a:solidFill>
                <a:latin typeface="Arial"/>
              </a:rPr>
              <a:t>Second-order overall: first-order in both phage and host concentration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The kinetics of phage adsorption to susceptible hosts are best described as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Zero-order until receptors saturate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400" b="1">
                <a:solidFill>
                  <a:srgbClr val="FFFFFF"/>
                </a:solidFill>
                <a:latin typeface="Arial"/>
              </a:rPr>
              <a:t>First-order in phage only, independent of host density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Logistic, limited by burst size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D   </a:t>
            </a:r>
            <a:r>
              <a:rPr sz="1400" b="1">
                <a:solidFill>
                  <a:srgbClr val="FFFFFF"/>
                </a:solidFill>
                <a:latin typeface="Arial"/>
              </a:rPr>
              <a:t>Second-order overall: first-order in both phage and host concentration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0"/>
            <a:ext cx="1737360" cy="0"/>
          </a:xfrm>
          <a:prstGeom prst="roundRect">
            <a:avLst/>
          </a:prstGeom>
          <a:solidFill>
            <a:srgbClr val="E61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Which is generally SMALLER?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A bacteriophage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A bacterium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A yeast cell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A red blood cell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0"/>
            <a:ext cx="1737360" cy="0"/>
          </a:xfrm>
          <a:prstGeom prst="roundRect">
            <a:avLst/>
          </a:prstGeom>
          <a:solidFill>
            <a:srgbClr val="E61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Which is generally SMALLER?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A bacteriophage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A bacterium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A yeast cell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A red blood cell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0"/>
            <a:ext cx="1737360" cy="0"/>
          </a:xfrm>
          <a:prstGeom prst="roundRect">
            <a:avLst/>
          </a:prstGeom>
          <a:solidFill>
            <a:srgbClr val="E61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Phage contamination of starter cultures is a classic industrial problem in which fermentation?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Bread baking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Cheese and yogurt making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Beer brewing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Wine making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0"/>
            <a:ext cx="1737360" cy="0"/>
          </a:xfrm>
          <a:prstGeom prst="roundRect">
            <a:avLst/>
          </a:prstGeom>
          <a:solidFill>
            <a:srgbClr val="E61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Phage contamination of starter cultures is a classic industrial problem in which fermentation?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Bread baking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Cheese and yogurt making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Beer brewing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Wine making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23560" y="1"/>
            <a:ext cx="960120" cy="960120"/>
          </a:xfrm>
          <a:prstGeom prst="roundRect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0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HISTORY OF BACTERIOPHAGES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1519" y="4114800"/>
            <a:ext cx="2066543" cy="384048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D3FC"/>
                </a:solidFill>
                <a:latin typeface="Arial"/>
              </a:rPr>
              <a:t>Correct +10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20943" y="4114800"/>
            <a:ext cx="1481328" cy="384048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D3FC"/>
                </a:solidFill>
                <a:latin typeface="Arial"/>
              </a:rPr>
              <a:t>Wrong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85151" y="4114800"/>
            <a:ext cx="1335024" cy="384048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D3FC"/>
                </a:solidFill>
                <a:latin typeface="Arial"/>
              </a:rPr>
              <a:t>30 sec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In the Hershey–Chase experiment, what physically separated “phage ghosts” from infected bacteria?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Shearing in a Waring blendor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Differential centrifugation of isotopes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Freeze–thaw lysis of the cells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Ethanol precipitation of free phage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In the Hershey–Chase experiment, what physically separated “phage ghosts” from infected bacteria?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Shearing in a Waring blendor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Differential centrifugation of isotopes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Freeze–thaw lysis of the cells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Ethanol precipitation of free phage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Benzer's rII recombination mapping was only possible because rII mutants fail to plaque on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Escherichia coli B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Salmonella Typhimurium LT2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Escherichia coli K12(λ)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Pseudomonas aeruginosa PAO1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Benzer's rII recombination mapping was only possible because rII mutants fail to plaque on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Escherichia coli B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Salmonella Typhimurium LT2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Escherichia coli K12(λ)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Pseudomonas aeruginosa PAO1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Crick, Brenner and colleagues (1961) proved the triplet nature of the code using proflavin-induced frameshifts in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The T4 rII gene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Lambda cI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MS2 coat protein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T7 gene 10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Crick, Brenner and colleagues (1961) proved the triplet nature of the code using proflavin-induced frameshifts in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The T4 rII gene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Lambda cI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MS2 coat protein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T7 gene 10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Weigle reactivation (1960) showed that UV-damaged lambda is rescued by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Recombination with co-infecting intact phage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SOS-induced host repair functions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Photoreactivation of phage RNA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Mitomycin C induction of the prophage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Weigle reactivation (1960) showed that UV-damaged lambda is rescued by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Recombination with co-infecting intact phage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SOS-induced host repair functions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Photoreactivation of phage RNA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Mitomycin C induction of the prophage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“Host-controlled variation” of lambda grown on E. coli K-12 versus B directly led to the discovery of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CRISPR-Cas immunity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Abortive infection systems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Restriction–modification systems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Superinfection exclusion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“Host-controlled variation” of lambda grown on E. coli K-12 versus B directly led to the discovery of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CRISPR-Cas immunity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Abortive infection systems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Restriction–modification systems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Superinfection exclusion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The Luria–Delbrück fluctuation test established that phage-resistance mutations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Are instructed by phage exposure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Spread by transduction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Require SOS induction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Arise spontaneously before phage exposure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The Luria–Delbrück fluctuation test established that phage-resistance mutations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Are instructed by phage exposure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Spread by transduction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Require SOS induction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Arise spontaneously before phage exposure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Frederick Twort's 1915 filterable agent was first observed lysing cultures of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Shigella dysenteriae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Vibrio cholerae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Bacillus anthracis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Staphylococcus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Frederick Twort's 1915 filterable agent was first observed lysing cultures of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Shigella dysenteriae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Vibrio cholerae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Bacillus anthracis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Staphylococcus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Which 1930s assessment most accelerated the decline of commercial phage therapy in the United States?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The Flexner Report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400" b="1">
                <a:solidFill>
                  <a:srgbClr val="FFFFFF"/>
                </a:solidFill>
                <a:latin typeface="Arial"/>
              </a:rPr>
              <a:t>The Eaton &amp; Bayne-Jones review of phage preparations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The Nuremberg Code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A Lister Institute ban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Which 1930s assessment most accelerated the decline of commercial phage therapy in the United States?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The Flexner Report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B   </a:t>
            </a:r>
            <a:r>
              <a:rPr sz="1400" b="1">
                <a:solidFill>
                  <a:srgbClr val="FFFFFF"/>
                </a:solidFill>
                <a:latin typeface="Arial"/>
              </a:rPr>
              <a:t>The Eaton &amp; Bayne-Jones review of phage preparations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The Nuremberg Code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A Lister Institute ban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0"/>
            <a:ext cx="1737360" cy="0"/>
          </a:xfrm>
          <a:prstGeom prst="roundRect">
            <a:avLst/>
          </a:prstGeom>
          <a:solidFill>
            <a:srgbClr val="E61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The 2017 compassionate-use case that brought phage therapy to global headlines treated a patient with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Disseminated Acinetobacter baumannii infection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MRSA endocarditis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XDR tuberculosis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Candida auris sepsis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0"/>
            <a:ext cx="1737360" cy="0"/>
          </a:xfrm>
          <a:prstGeom prst="roundRect">
            <a:avLst/>
          </a:prstGeom>
          <a:solidFill>
            <a:srgbClr val="E61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The 2017 compassionate-use case that brought phage therapy to global headlines treated a patient with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Disseminated Acinetobacter baumannii infection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MRSA endocarditis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XDR tuberculosis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Candida auris sepsis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0"/>
            <a:ext cx="1737360" cy="0"/>
          </a:xfrm>
          <a:prstGeom prst="roundRect">
            <a:avLst/>
          </a:prstGeom>
          <a:solidFill>
            <a:srgbClr val="E61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The 1969 Nobel Prize (Delbrück, Hershey, Luria) honoured work on the replication and genetic structure of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Influenza virus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Bacteriophages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Poliovirus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Retroviruses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0"/>
            <a:ext cx="1737360" cy="0"/>
          </a:xfrm>
          <a:prstGeom prst="roundRect">
            <a:avLst/>
          </a:prstGeom>
          <a:solidFill>
            <a:srgbClr val="E61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The 1969 Nobel Prize (Delbrück, Hershey, Luria) honoured work on the replication and genetic structure of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Influenza virus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Bacteriophages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Poliovirus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Retroviruses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23560" y="1"/>
            <a:ext cx="960120" cy="960120"/>
          </a:xfrm>
          <a:prstGeom prst="roundRect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0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PHAGE RELATED PROTOCOLS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1519" y="4114800"/>
            <a:ext cx="2066543" cy="384048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D3FC"/>
                </a:solidFill>
                <a:latin typeface="Arial"/>
              </a:rPr>
              <a:t>Correct +10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20943" y="4114800"/>
            <a:ext cx="1481328" cy="384048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D3FC"/>
                </a:solidFill>
                <a:latin typeface="Arial"/>
              </a:rPr>
              <a:t>Wrong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85151" y="4114800"/>
            <a:ext cx="1335024" cy="384048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D3FC"/>
                </a:solidFill>
                <a:latin typeface="Arial"/>
              </a:rPr>
              <a:t>30 sec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Top-agar concentrations above ~0.7% shrink plaque sizes mainly because they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Melt at lower temperatures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Select for resistant mutants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Chelate Ca2+ and Mg2+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400" b="1">
                <a:solidFill>
                  <a:srgbClr val="FFFFFF"/>
                </a:solidFill>
                <a:latin typeface="Arial"/>
              </a:rPr>
              <a:t>Restrict phage diffusion through the matrix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Top-agar concentrations above ~0.7% shrink plaque sizes mainly because they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Melt at lower temperatures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Select for resistant mutants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Chelate Ca2+ and Mg2+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D   </a:t>
            </a:r>
            <a:r>
              <a:rPr sz="1400" b="1">
                <a:solidFill>
                  <a:srgbClr val="FFFFFF"/>
                </a:solidFill>
                <a:latin typeface="Arial"/>
              </a:rPr>
              <a:t>Restrict phage diffusion through the matrix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The particle-to-PFU ratio of a lysate is obtained by combining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qPCR with PFGE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CsCl gradients with SYBR Gold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400" b="1">
                <a:solidFill>
                  <a:srgbClr val="FFFFFF"/>
                </a:solidFill>
                <a:latin typeface="Arial"/>
              </a:rPr>
              <a:t>Flow cytometry (particle counts) with plaque assay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LAL with TEM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The particle-to-PFU ratio of a lysate is obtained by combining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qPCR with PFGE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CsCl gradients with SYBR Gold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C   </a:t>
            </a:r>
            <a:r>
              <a:rPr sz="1400" b="1">
                <a:solidFill>
                  <a:srgbClr val="FFFFFF"/>
                </a:solidFill>
                <a:latin typeface="Arial"/>
              </a:rPr>
              <a:t>Flow cytometry (particle counts) with plaque assay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LAL with TEM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During phage DNA extraction, contaminating free bacterial DNA is removed selectively by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DNase I treatment before capsid lysis (capsid DNA is protected)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Proteinase K before lysis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Ethanol precipitation alone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RNase A after lysis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During phage DNA extraction, contaminating free bacterial DNA is removed selectively by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DNase I treatment before capsid lysis (capsid DNA is protected)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Proteinase K before lysis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Ethanol precipitation alone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RNase A after lysis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In a CsCl isopycnic gradient, phage bands at ~1.5 g/cm³. A lighter band at ~1.3 g/cm³ is most likely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Protein and membrane vesicles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Host chromosomal DNA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Intact ribosomes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Free exopolysaccharide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In a CsCl isopycnic gradient, phage bands at ~1.5 g/cm³. A lighter band at ~1.3 g/cm³ is most likely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Protein and membrane vesicles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Host chromosomal DNA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Intact ribosomes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Free exopolysaccharide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Chloroform clarification of a lysate must NOT be used for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Microviruses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Enveloped phages such as Φ6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Filamentous inoviruses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Tailed dsDNA phages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Chloroform clarification of a lysate must NOT be used for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Microviruses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Enveloped phages such as Φ6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Filamentous inoviruses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Tailed dsDNA phages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In the Ellis–Delbrück one-step growth experiment, unadsorbed phage is neutralized by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Using stationary-phase hosts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Anti-phage serum (or extreme dilution)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Chilling to 4 °C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Adding chloroform at time zero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In the Ellis–Delbrück one-step growth experiment, unadsorbed phage is neutralized by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Using stationary-phase hosts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Anti-phage serum (or extreme dilution)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Chilling to 4 °C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Adding chloroform at time zero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A spot test giving confluent lysis that disappears on dilution, without plaques, indicates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Lysis from without at high phage input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A fully permissive host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Lysogenic conversion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Capsular blocking of adsorption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A spot test giving confluent lysis that disappears on dilution, without plaques, indicates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Lysis from without at high phage input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A fully permissive host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Lysogenic conversion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Capsular blocking of adsorption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For phage stocks kept at 4 °C, which additive limits titer loss by adsorption to tube walls?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100 mM EDTA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50% glycerol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Sodium azide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Gelatin (or BSA)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For phage stocks kept at 4 °C, which additive limits titer loss by adsorption to tube walls?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100 mM EDTA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50% glycerol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Sodium azide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Gelatin (or BSA)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0"/>
            <a:ext cx="1737360" cy="0"/>
          </a:xfrm>
          <a:prstGeom prst="roundRect">
            <a:avLst/>
          </a:prstGeom>
          <a:solidFill>
            <a:srgbClr val="E61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In a spot test, a clear zone where phage suspension was dropped on a bacterial lawn indicates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Medium contamination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The strain is sensitive (lysis)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The strain is resistant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A mutation arose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0"/>
            <a:ext cx="1737360" cy="0"/>
          </a:xfrm>
          <a:prstGeom prst="roundRect">
            <a:avLst/>
          </a:prstGeom>
          <a:solidFill>
            <a:srgbClr val="E61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In a spot test, a clear zone where phage suspension was dropped on a bacterial lawn indicates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Medium contamination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The strain is sensitive (lysis)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The strain is resistant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A mutation arose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0"/>
            <a:ext cx="1737360" cy="0"/>
          </a:xfrm>
          <a:prstGeom prst="roundRect">
            <a:avLst/>
          </a:prstGeom>
          <a:solidFill>
            <a:srgbClr val="E61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In a plaque assay, each plaque originates from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A free DNA fragment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An antibiotic disc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A single infectious phage particle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A single bacterial cell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0"/>
            <a:ext cx="1737360" cy="0"/>
          </a:xfrm>
          <a:prstGeom prst="roundRect">
            <a:avLst/>
          </a:prstGeom>
          <a:solidFill>
            <a:srgbClr val="E61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In a plaque assay, each plaque originates from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A free DNA fragment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An antibiotic disc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A single infectious phage particle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A single bacterial cell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23560" y="1"/>
            <a:ext cx="960120" cy="960120"/>
          </a:xfrm>
          <a:prstGeom prst="roundRect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0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PHAGE INFORMATICS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1519" y="4114800"/>
            <a:ext cx="2066543" cy="384048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D3FC"/>
                </a:solidFill>
                <a:latin typeface="Arial"/>
              </a:rPr>
              <a:t>Correct +10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20943" y="4114800"/>
            <a:ext cx="1481328" cy="384048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D3FC"/>
                </a:solidFill>
                <a:latin typeface="Arial"/>
              </a:rPr>
              <a:t>Wrong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85151" y="4114800"/>
            <a:ext cx="1335024" cy="384048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D3FC"/>
                </a:solidFill>
                <a:latin typeface="Arial"/>
              </a:rPr>
              <a:t>30 sec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Under MIMAG standards, a high-quality draft viral genome requires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≥90% completeness, &lt;5% contamination, plus tRNAs and identified termini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Any contig &gt;10 kb carrying a capsid gene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100× coverage regardless of completeness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Presence of an integrase gene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Under MIMAG standards, a high-quality draft viral genome requires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≥90% completeness, &lt;5% contamination, plus tRNAs and identified termini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Any contig &gt;10 kb carrying a capsid gene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100× coverage regardless of completeness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Presence of an integrase gene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In read-mapping to a phage reference, terminal redundancy of the genome appears as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A coverage gap at the cos site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Elevated coverage across both genome ends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Uniform coverage with spikes at tRNA genes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Coverage falling to zero at the ends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In read-mapping to a phage reference, terminal redundancy of the genome appears as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A coverage gap at the cos site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Elevated coverage across both genome ends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Uniform coverage with spikes at tRNA genes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Coverage falling to zero at the ends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Anti-CRISPR (acr) genes in prophages are typically found next to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Host CRISPR arrays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tRNA clusters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400" b="1">
                <a:solidFill>
                  <a:srgbClr val="FFFFFF"/>
                </a:solidFill>
                <a:latin typeface="Arial"/>
              </a:rPr>
              <a:t>aca genes encoding HTH-type transcriptional regulators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Direct terminal repeats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Anti-CRISPR (acr) genes in prophages are typically found next to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Host CRISPR arrays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tRNA clusters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C   </a:t>
            </a:r>
            <a:r>
              <a:rPr sz="1400" b="1">
                <a:solidFill>
                  <a:srgbClr val="FFFFFF"/>
                </a:solidFill>
                <a:latin typeface="Arial"/>
              </a:rPr>
              <a:t>aca genes encoding HTH-type transcriptional regulators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Direct terminal repeats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“Viral tagging” (fluorescently labelled phage + flow sorting of single cells) is used to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Measure buoyant density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400" b="1">
                <a:solidFill>
                  <a:srgbClr val="FFFFFF"/>
                </a:solidFill>
                <a:latin typeface="Arial"/>
              </a:rPr>
              <a:t>Cluster genomes by tetranucleotide frequency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Sequence CRISPR spacers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400" b="1">
                <a:solidFill>
                  <a:srgbClr val="FFFFFF"/>
                </a:solidFill>
                <a:latin typeface="Arial"/>
              </a:rPr>
              <a:t>Link phages to their hosts at single-cell resolution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“Viral tagging” (fluorescently labelled phage + flow sorting of single cells) is used to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Measure buoyant density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400" b="1">
                <a:solidFill>
                  <a:srgbClr val="FFFFFF"/>
                </a:solidFill>
                <a:latin typeface="Arial"/>
              </a:rPr>
              <a:t>Cluster genomes by tetranucleotide frequency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Sequence CRISPR spacers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D   </a:t>
            </a:r>
            <a:r>
              <a:rPr sz="1400" b="1">
                <a:solidFill>
                  <a:srgbClr val="FFFFFF"/>
                </a:solidFill>
                <a:latin typeface="Arial"/>
              </a:rPr>
              <a:t>Link phages to their hosts at single-cell resolution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VIRIDIC demarcates viral species and genera using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Intergenomic nucleotide similarity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Shared tRNA counts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Codon-usage distance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Capsid morphology vectors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VIRIDIC demarcates viral species and genera using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Intergenomic nucleotide similarity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Shared tRNA counts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Codon-usage distance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Capsid morphology vectors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CheckV evaluates viral metagenome-assembled genomes for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Host range prediction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400" b="1">
                <a:solidFill>
                  <a:srgbClr val="FFFFFF"/>
                </a:solidFill>
                <a:latin typeface="Arial"/>
              </a:rPr>
              <a:t>Completeness, contamination and provirus boundaries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Plaque morphology class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AMR gene content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CheckV evaluates viral metagenome-assembled genomes for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Host range prediction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B   </a:t>
            </a:r>
            <a:r>
              <a:rPr sz="1400" b="1">
                <a:solidFill>
                  <a:srgbClr val="FFFFFF"/>
                </a:solidFill>
                <a:latin typeface="Arial"/>
              </a:rPr>
              <a:t>Completeness, contamination and provirus boundaries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Plaque morphology class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AMR gene content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PhageTerm determines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Lysis timing from growth curves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Taxonomic family from marker genes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400" b="1">
                <a:solidFill>
                  <a:srgbClr val="FFFFFF"/>
                </a:solidFill>
                <a:latin typeface="Arial"/>
              </a:rPr>
              <a:t>Genome termini and the packaging mechanism (cos, pac, headful)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Optimal cocktail composition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PhageTerm determines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Lysis timing from growth curves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Taxonomic family from marker genes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C   </a:t>
            </a:r>
            <a:r>
              <a:rPr sz="1400" b="1">
                <a:solidFill>
                  <a:srgbClr val="FFFFFF"/>
                </a:solidFill>
                <a:latin typeface="Arial"/>
              </a:rPr>
              <a:t>Genome termini and the packaging mechanism (cos, pac, headful)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Optimal cocktail composition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Comparing phage codon adaptation to candidate hosts helps predict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Burst size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Capsid diameter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Genome termini type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The likely host / recent host adaptation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Comparing phage codon adaptation to candidate hosts helps predict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Burst size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Capsid diameter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Genome termini type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The likely host / recent host adaptation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0"/>
            <a:ext cx="1737360" cy="0"/>
          </a:xfrm>
          <a:prstGeom prst="roundRect">
            <a:avLst/>
          </a:prstGeom>
          <a:solidFill>
            <a:srgbClr val="E61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The complete collection of viruses in a sample is called the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Microbiome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Virome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Proteome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Plasmidome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0"/>
            <a:ext cx="1737360" cy="0"/>
          </a:xfrm>
          <a:prstGeom prst="roundRect">
            <a:avLst/>
          </a:prstGeom>
          <a:solidFill>
            <a:srgbClr val="E61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The complete collection of viruses in a sample is called the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Microbiome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Virome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Proteome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Plasmidome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0"/>
            <a:ext cx="1737360" cy="0"/>
          </a:xfrm>
          <a:prstGeom prst="roundRect">
            <a:avLst/>
          </a:prstGeom>
          <a:solidFill>
            <a:srgbClr val="E61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A prophage region whose GC content differs strongly from the rest of the bacterial chromosome suggests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Recently acquired foreign DNA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A better plaque morphology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A smaller capsid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An RNA genome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0"/>
            <a:ext cx="1737360" cy="0"/>
          </a:xfrm>
          <a:prstGeom prst="roundRect">
            <a:avLst/>
          </a:prstGeom>
          <a:solidFill>
            <a:srgbClr val="E61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A prophage region whose GC content differs strongly from the rest of the bacterial chromosome suggests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Recently acquired foreign DNA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A better plaque morphology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A smaller capsid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An RNA genome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23560" y="1"/>
            <a:ext cx="960120" cy="960120"/>
          </a:xfrm>
          <a:prstGeom prst="roundRect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0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PHAGE IDENTIFICATION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1519" y="4114800"/>
            <a:ext cx="2066543" cy="384048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D3FC"/>
                </a:solidFill>
                <a:latin typeface="Arial"/>
              </a:rPr>
              <a:t>Correct +10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20943" y="4114800"/>
            <a:ext cx="1481328" cy="384048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D3FC"/>
                </a:solidFill>
                <a:latin typeface="Arial"/>
              </a:rPr>
              <a:t>Wrong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85151" y="4114800"/>
            <a:ext cx="1335024" cy="384048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D3FC"/>
                </a:solidFill>
                <a:latin typeface="Arial"/>
              </a:rPr>
              <a:t>30 sec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Under current ICTV taxonomy, phage T7 (formerly Podoviridae) is placed in the family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Autographiviridae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Ackermannviridae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Drexlerviridae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Herelleviridae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Under current ICTV taxonomy, phage T7 (formerly Podoviridae) is placed in the family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Autographiviridae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Ackermannviridae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Drexlerviridae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Herelleviridae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The lipid envelope of cystovirus Φ6 is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Assembled from host-derived membrane lipids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400" b="1">
                <a:solidFill>
                  <a:srgbClr val="FFFFFF"/>
                </a:solidFill>
                <a:latin typeface="Arial"/>
              </a:rPr>
              <a:t>Acquired from outer-membrane vesicles of other species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A protein-only pseudo-envelope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400" b="1">
                <a:solidFill>
                  <a:srgbClr val="FFFFFF"/>
                </a:solidFill>
                <a:latin typeface="Arial"/>
              </a:rPr>
              <a:t>Synthesized de novo with phage-made sterols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The lipid envelope of cystovirus Φ6 is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Assembled from host-derived membrane lipids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400" b="1">
                <a:solidFill>
                  <a:srgbClr val="FFFFFF"/>
                </a:solidFill>
                <a:latin typeface="Arial"/>
              </a:rPr>
              <a:t>Acquired from outer-membrane vesicles of other species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A protein-only pseudo-envelope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400" b="1">
                <a:solidFill>
                  <a:srgbClr val="FFFFFF"/>
                </a:solidFill>
                <a:latin typeface="Arial"/>
              </a:rPr>
              <a:t>Synthesized de novo with phage-made sterols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In levivirus MS2, the single-copy maturation (A) protein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Triggers lysis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Forms the icosahedral capsid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400" b="1">
                <a:solidFill>
                  <a:srgbClr val="FFFFFF"/>
                </a:solidFill>
                <a:latin typeface="Arial"/>
              </a:rPr>
              <a:t>Binds the F-pilus and escorts the RNA into the cell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Acts as the replicase subunit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In levivirus MS2, the single-copy maturation (A) protein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Triggers lysis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Forms the icosahedral capsid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C   </a:t>
            </a:r>
            <a:r>
              <a:rPr sz="1400" b="1">
                <a:solidFill>
                  <a:srgbClr val="FFFFFF"/>
                </a:solidFill>
                <a:latin typeface="Arial"/>
              </a:rPr>
              <a:t>Binds the F-pilus and escorts the RNA into the cell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Acts as the replicase subunit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The portal vertex of tailed phages is typically a ring of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5 subunits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~12–13 portal subunits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60 subunits matching T=1 symmetry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1 subunit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The portal vertex of tailed phages is typically a ring of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5 subunits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~12–13 portal subunits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60 subunits matching T=1 symmetry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1 subunit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Transcription of jumbo phage ΦKZ is independent of the host RNA polymerase because the phage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Transcribes via a ribozyme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Hijacks host Pol II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400" b="1">
                <a:solidFill>
                  <a:srgbClr val="FFFFFF"/>
                </a:solidFill>
                <a:latin typeface="Arial"/>
              </a:rPr>
              <a:t>Uses a phage-encoded sigma factor with host RNAP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400" b="1">
                <a:solidFill>
                  <a:srgbClr val="FFFFFF"/>
                </a:solidFill>
                <a:latin typeface="Arial"/>
              </a:rPr>
              <a:t>Encodes its own multisubunit RNA polymerase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Transcription of jumbo phage ΦKZ is independent of the host RNA polymerase because the phage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Transcribes via a ribozyme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Hijacks host Pol II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400" b="1">
                <a:solidFill>
                  <a:srgbClr val="FFFFFF"/>
                </a:solidFill>
                <a:latin typeface="Arial"/>
              </a:rPr>
              <a:t>Uses a phage-encoded sigma factor with host RNAP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D   </a:t>
            </a:r>
            <a:r>
              <a:rPr sz="1400" b="1">
                <a:solidFill>
                  <a:srgbClr val="FFFFFF"/>
                </a:solidFill>
                <a:latin typeface="Arial"/>
              </a:rPr>
              <a:t>Encodes its own multisubunit RNA polymerase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Filamentous inoviruses leave the host without lysis by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Low-frequency holin–endolysin lysis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Spanin-mediated membrane fusion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Budding with a lipid envelope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400" b="1">
                <a:solidFill>
                  <a:srgbClr val="FFFFFF"/>
                </a:solidFill>
                <a:latin typeface="Arial"/>
              </a:rPr>
              <a:t>Extrusion through the envelope (e.g., via the pIV secretin)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Filamentous inoviruses leave the host without lysis by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Low-frequency holin–endolysin lysis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Spanin-mediated membrane fusion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Budding with a lipid envelope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D   </a:t>
            </a:r>
            <a:r>
              <a:rPr sz="1400" b="1">
                <a:solidFill>
                  <a:srgbClr val="FFFFFF"/>
                </a:solidFill>
                <a:latin typeface="Arial"/>
              </a:rPr>
              <a:t>Extrusion through the envelope (e.g., via the pIV secretin)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T4 whiskers (wac/fib3) function to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Anchor the baseplate to the capsid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400" b="1">
                <a:solidFill>
                  <a:srgbClr val="FFFFFF"/>
                </a:solidFill>
                <a:latin typeface="Arial"/>
              </a:rPr>
              <a:t>Hold long tail fibers folded against the tail before adsorption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Contract and pierce the outer membrane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Package DNA into the procapsid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T4 whiskers (wac/fib3) function to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Anchor the baseplate to the capsid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B   </a:t>
            </a:r>
            <a:r>
              <a:rPr sz="1400" b="1">
                <a:solidFill>
                  <a:srgbClr val="FFFFFF"/>
                </a:solidFill>
                <a:latin typeface="Arial"/>
              </a:rPr>
              <a:t>Hold long tail fibers folded against the tail before adsorption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Contract and pierce the outer membrane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Package DNA into the procapsid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The collar of phage T4 forms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The portal–terminase bridge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The head–tail junction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The sheath–tube interface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The fiber–baseplate contact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The collar of phage T4 forms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The portal–terminase bridge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The head–tail junction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The sheath–tube interface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The fiber–baseplate contact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0"/>
            <a:ext cx="1737360" cy="0"/>
          </a:xfrm>
          <a:prstGeom prst="roundRect">
            <a:avLst/>
          </a:prstGeom>
          <a:solidFill>
            <a:srgbClr val="E61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Under TEM, a tailed phage with a small head and a very SHORT non-contractile tail is a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Siphovirus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Filamentous phage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Podovirus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Myovirus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0"/>
            <a:ext cx="1737360" cy="0"/>
          </a:xfrm>
          <a:prstGeom prst="roundRect">
            <a:avLst/>
          </a:prstGeom>
          <a:solidFill>
            <a:srgbClr val="E61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Under TEM, a tailed phage with a small head and a very SHORT non-contractile tail is a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Siphovirus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Filamentous phage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Podovirus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Myovirus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0"/>
            <a:ext cx="1737360" cy="0"/>
          </a:xfrm>
          <a:prstGeom prst="roundRect">
            <a:avLst/>
          </a:prstGeom>
          <a:solidFill>
            <a:srgbClr val="E61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Turbid (cloudy) plaques usually suggest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A temperate phage forming lysogens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A strictly lytic phage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An RNA phage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Medium contamination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0"/>
            <a:ext cx="1737360" cy="0"/>
          </a:xfrm>
          <a:prstGeom prst="roundRect">
            <a:avLst/>
          </a:prstGeom>
          <a:solidFill>
            <a:srgbClr val="E61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Turbid (cloudy) plaques usually suggest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A temperate phage forming lysogens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A strictly lytic phage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An RNA phage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Medium contamination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23560" y="1"/>
            <a:ext cx="960120" cy="960120"/>
          </a:xfrm>
          <a:prstGeom prst="roundRect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0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IDENTIFY THE FIGURE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98367" y="4114800"/>
            <a:ext cx="2066543" cy="384048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D3FC"/>
                </a:solidFill>
                <a:latin typeface="Arial"/>
              </a:rPr>
              <a:t>Correct +10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47791" y="4114800"/>
            <a:ext cx="1627632" cy="384048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D3FC"/>
                </a:solidFill>
                <a:latin typeface="Arial"/>
              </a:rPr>
              <a:t>Wrong -5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8303" y="4114800"/>
            <a:ext cx="1335024" cy="384048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D3FC"/>
                </a:solidFill>
                <a:latin typeface="Arial"/>
              </a:rPr>
              <a:t>30 sec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6</a:t>
            </a:r>
          </a:p>
        </p:txBody>
      </p:sp>
      <p:pic>
        <p:nvPicPr>
          <p:cNvPr id="3" name="Picture 2" descr="growth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0926" y="777240"/>
            <a:ext cx="3529842" cy="2148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97180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In the arrowed interval of this one-step growth curve, no intracellular infectious virions can be recovered. This portion is the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Eclipse period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Rise period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Burst phase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Adsorption plateau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6</a:t>
            </a:r>
          </a:p>
        </p:txBody>
      </p:sp>
      <p:pic>
        <p:nvPicPr>
          <p:cNvPr id="3" name="Picture 2" descr="growth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0926" y="777240"/>
            <a:ext cx="3529842" cy="2148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97180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In the arrowed interval of this one-step growth curve, no intracellular infectious virions can be recovered. This portion is the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Eclipse period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Rise period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Burst phase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Adsorption plateau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6</a:t>
            </a:r>
          </a:p>
        </p:txBody>
      </p:sp>
      <p:pic>
        <p:nvPicPr>
          <p:cNvPr id="3" name="Picture 2" descr="plaque_ha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430" y="777240"/>
            <a:ext cx="2720833" cy="2148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97180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The clear HALO extending beyond the plaque edge in this plate is most likely due to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An antibiotic in the medium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400" b="1">
                <a:solidFill>
                  <a:srgbClr val="FFFFFF"/>
                </a:solidFill>
                <a:latin typeface="Arial"/>
              </a:rPr>
              <a:t>Extracellular depolymerase degrading the capsule/EPS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Lysis from without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Phage-resistant mutants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6</a:t>
            </a:r>
          </a:p>
        </p:txBody>
      </p:sp>
      <p:pic>
        <p:nvPicPr>
          <p:cNvPr id="3" name="Picture 2" descr="plaque_ha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430" y="777240"/>
            <a:ext cx="2720833" cy="2148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97180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The clear HALO extending beyond the plaque edge in this plate is most likely due to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An antibiotic in the medium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B   </a:t>
            </a:r>
            <a:r>
              <a:rPr sz="1400" b="1">
                <a:solidFill>
                  <a:srgbClr val="FFFFFF"/>
                </a:solidFill>
                <a:latin typeface="Arial"/>
              </a:rPr>
              <a:t>Extracellular depolymerase degrading the capsule/EPS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Lysis from without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Phage-resistant mutants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6</a:t>
            </a:r>
          </a:p>
        </p:txBody>
      </p:sp>
      <p:pic>
        <p:nvPicPr>
          <p:cNvPr id="3" name="Picture 2" descr="t4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8676" y="777240"/>
            <a:ext cx="1954343" cy="2148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97180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The arrowed long tail fibers bind reversibly. Irreversible adsorption of T4 is then mediated by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Short tail fibers engaging the inner LPS core after baseplate triggering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A second long-fiber receptor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Teichoic acid bridging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Pilus retraction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6</a:t>
            </a:r>
          </a:p>
        </p:txBody>
      </p:sp>
      <p:pic>
        <p:nvPicPr>
          <p:cNvPr id="3" name="Picture 2" descr="t4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8676" y="777240"/>
            <a:ext cx="1954343" cy="2148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97180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The arrowed long tail fibers bind reversibly. Irreversible adsorption of T4 is then mediated by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Short tail fibers engaging the inner LPS core after baseplate triggering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A second long-fiber receptor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Teichoic acid bridging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Pilus retraction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6</a:t>
            </a:r>
          </a:p>
        </p:txBody>
      </p:sp>
      <p:pic>
        <p:nvPicPr>
          <p:cNvPr id="3" name="Picture 2" descr="lysoge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0912" y="777240"/>
            <a:ext cx="3849870" cy="2148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97180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The integrated state depicted here is maintained by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Cro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The cI repressor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CII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N antitermination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6</a:t>
            </a:r>
          </a:p>
        </p:txBody>
      </p:sp>
      <p:pic>
        <p:nvPicPr>
          <p:cNvPr id="3" name="Picture 2" descr="lysoge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0912" y="777240"/>
            <a:ext cx="3849870" cy="2148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97180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The integrated state depicted here is maintained by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Cro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The cI repressor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CII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N antitermination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6</a:t>
            </a:r>
          </a:p>
        </p:txBody>
      </p:sp>
      <p:pic>
        <p:nvPicPr>
          <p:cNvPr id="3" name="Picture 2" descr="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151" y="777240"/>
            <a:ext cx="3951392" cy="2148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97180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Top agar is cooled to ~45 °C before mixing because this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Increases plaque turbidity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Speeds up lawn growth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Prevents Ca2+ precipitation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400" b="1">
                <a:solidFill>
                  <a:srgbClr val="FFFFFF"/>
                </a:solidFill>
                <a:latin typeface="Arial"/>
              </a:rPr>
              <a:t>Keeps agar liquid while sparing phage and host from heat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6</a:t>
            </a:r>
          </a:p>
        </p:txBody>
      </p:sp>
      <p:pic>
        <p:nvPicPr>
          <p:cNvPr id="3" name="Picture 2" descr="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151" y="777240"/>
            <a:ext cx="3951392" cy="2148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97180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Top agar is cooled to ~45 °C before mixing because this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Increases plaque turbidity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Speeds up lawn growth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Prevents Ca2+ precipitation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D   </a:t>
            </a:r>
            <a:r>
              <a:rPr sz="1400" b="1">
                <a:solidFill>
                  <a:srgbClr val="FFFFFF"/>
                </a:solidFill>
                <a:latin typeface="Arial"/>
              </a:rPr>
              <a:t>Keeps agar liquid while sparing phage and host from heat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6</a:t>
            </a:r>
          </a:p>
        </p:txBody>
      </p:sp>
      <p:pic>
        <p:nvPicPr>
          <p:cNvPr id="3" name="Picture 2" descr="cs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9567" y="777240"/>
            <a:ext cx="1432560" cy="2148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97180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The arrowed band at ~1.5 g/cm³ holds phage. A fainter band at ~1.3 g/cm³ in the same tube would be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Protein and membrane vesicles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Host rRNA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Intact progeny virions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DNA–protein concatemers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6</a:t>
            </a:r>
          </a:p>
        </p:txBody>
      </p:sp>
      <p:pic>
        <p:nvPicPr>
          <p:cNvPr id="3" name="Picture 2" descr="cs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9567" y="777240"/>
            <a:ext cx="1432560" cy="2148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97180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The arrowed band at ~1.5 g/cm³ holds phage. A fainter band at ~1.3 g/cm³ in the same tube would be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Protein and membrane vesicles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Host rRNA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Intact progeny virions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DNA–protein concatemers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6</a:t>
            </a:r>
          </a:p>
        </p:txBody>
      </p:sp>
      <p:pic>
        <p:nvPicPr>
          <p:cNvPr id="3" name="Picture 2" descr="morpho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404" y="777240"/>
            <a:ext cx="5012886" cy="2148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97180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Unlike virion 1, the MIDDLE virion injects its DNA by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Contracting its tail more slowly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Injecting RNA instead of DNA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400" b="1">
                <a:solidFill>
                  <a:srgbClr val="FFFFFF"/>
                </a:solidFill>
                <a:latin typeface="Arial"/>
              </a:rPr>
              <a:t>Receptor-triggered conformational change without sheath contraction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Consuming host ATP for contraction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6</a:t>
            </a:r>
          </a:p>
        </p:txBody>
      </p:sp>
      <p:pic>
        <p:nvPicPr>
          <p:cNvPr id="3" name="Picture 2" descr="morpho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404" y="777240"/>
            <a:ext cx="5012886" cy="2148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97180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Unlike virion 1, the MIDDLE virion injects its DNA by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Contracting its tail more slowly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Injecting RNA instead of DNA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C   </a:t>
            </a:r>
            <a:r>
              <a:rPr sz="1400" b="1">
                <a:solidFill>
                  <a:srgbClr val="FFFFFF"/>
                </a:solidFill>
                <a:latin typeface="Arial"/>
              </a:rPr>
              <a:t>Receptor-triggered conformational change without sheath contraction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Consuming host ATP for contraction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6</a:t>
            </a:r>
          </a:p>
        </p:txBody>
      </p:sp>
      <p:pic>
        <p:nvPicPr>
          <p:cNvPr id="3" name="Picture 2" descr="biofi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151" y="777240"/>
            <a:ext cx="3951392" cy="2148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97180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To penetrate the matrix shown in this biofilm diagram, the most useful phage-encoded enzymes are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DNA ligases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Integrases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RNA polymerases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Depolymerases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6</a:t>
            </a:r>
          </a:p>
        </p:txBody>
      </p:sp>
      <p:pic>
        <p:nvPicPr>
          <p:cNvPr id="3" name="Picture 2" descr="biofi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151" y="777240"/>
            <a:ext cx="3951392" cy="2148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97180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To penetrate the matrix shown in this biofilm diagram, the most useful phage-encoded enzymes are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DNA ligases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Integrases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RNA polymerases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Depolymerases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6</a:t>
            </a:r>
          </a:p>
        </p:txBody>
      </p:sp>
      <p:pic>
        <p:nvPicPr>
          <p:cNvPr id="3" name="Picture 2" descr="spot_ass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7508" y="777240"/>
            <a:ext cx="2916677" cy="2148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97180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On this spot-assay plate, a drop giving confluent clearing but no plaques on dilution indicates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A fully permissive host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Lysogenic conversion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400" b="1">
                <a:solidFill>
                  <a:srgbClr val="FFFFFF"/>
                </a:solidFill>
                <a:latin typeface="Arial"/>
              </a:rPr>
              <a:t>Lysis from without / killing without productive infection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Depolymerase secretion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6</a:t>
            </a:r>
          </a:p>
        </p:txBody>
      </p:sp>
      <p:pic>
        <p:nvPicPr>
          <p:cNvPr id="3" name="Picture 2" descr="spot_ass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7508" y="777240"/>
            <a:ext cx="2916677" cy="2148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97180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On this spot-assay plate, a drop giving confluent clearing but no plaques on dilution indicates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A fully permissive host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Lysogenic conversion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C   </a:t>
            </a:r>
            <a:r>
              <a:rPr sz="1400" b="1">
                <a:solidFill>
                  <a:srgbClr val="FFFFFF"/>
                </a:solidFill>
                <a:latin typeface="Arial"/>
              </a:rPr>
              <a:t>Lysis from without / killing without productive infection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Depolymerase secretion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6</a:t>
            </a:r>
          </a:p>
        </p:txBody>
      </p:sp>
      <p:pic>
        <p:nvPicPr>
          <p:cNvPr id="3" name="Picture 2" descr="plaques_turb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213" y="777240"/>
            <a:ext cx="4117267" cy="2148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97180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Plate A shows clear plaques, plate B turbid plaques. The turbidity in plate B is caused by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Incomplete top-agar setting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400" b="1">
                <a:solidFill>
                  <a:srgbClr val="FFFFFF"/>
                </a:solidFill>
                <a:latin typeface="Arial"/>
              </a:rPr>
              <a:t>Growth of immune lysogens within the plaque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Contaminating fungi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A very small burst size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6</a:t>
            </a:r>
          </a:p>
        </p:txBody>
      </p:sp>
      <p:pic>
        <p:nvPicPr>
          <p:cNvPr id="3" name="Picture 2" descr="plaques_turb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213" y="777240"/>
            <a:ext cx="4117267" cy="2148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97180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Plate A shows clear plaques, plate B turbid plaques. The turbidity in plate B is caused by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Incomplete top-agar setting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B   </a:t>
            </a:r>
            <a:r>
              <a:rPr sz="1400" b="1">
                <a:solidFill>
                  <a:srgbClr val="FFFFFF"/>
                </a:solidFill>
                <a:latin typeface="Arial"/>
              </a:rPr>
              <a:t>Growth of immune lysogens within the plaque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Contaminating fungi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A very small burst size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23560" y="1"/>
            <a:ext cx="960120" cy="960120"/>
          </a:xfrm>
          <a:prstGeom prst="roundRect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0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PHAGE THERAPY &amp; CLINICAL FRONTIERS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BD0DFF"/>
                </a:solidFill>
                <a:latin typeface="Arial"/>
              </a:rPr>
              <a:t>✦ NEW TOPIC 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98367" y="4114800"/>
            <a:ext cx="2066543" cy="384048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D3FC"/>
                </a:solidFill>
                <a:latin typeface="Arial"/>
              </a:rPr>
              <a:t>Correct +10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47791" y="4114800"/>
            <a:ext cx="1627632" cy="384048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D3FC"/>
                </a:solidFill>
                <a:latin typeface="Arial"/>
              </a:rPr>
              <a:t>Wrong -5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8303" y="4114800"/>
            <a:ext cx="1335024" cy="384048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D3FC"/>
                </a:solidFill>
                <a:latin typeface="Arial"/>
              </a:rPr>
              <a:t>30 sec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The 2019 Nature Medicine report of an engineered three-phage cocktail successfully treated which infection in a cystic fibrosis patient?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Staphylococcus aureus osteomyelitis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400" b="1">
                <a:solidFill>
                  <a:srgbClr val="FFFFFF"/>
                </a:solidFill>
                <a:latin typeface="Arial"/>
              </a:rPr>
              <a:t>Disseminated Mycobacterium abscessus infection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Pseudomonas aeruginosa pneumonia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Acinetobacter baumannii sepsis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The 2019 Nature Medicine report of an engineered three-phage cocktail successfully treated which infection in a cystic fibrosis patient?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Staphylococcus aureus osteomyelitis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B   </a:t>
            </a:r>
            <a:r>
              <a:rPr sz="1400" b="1">
                <a:solidFill>
                  <a:srgbClr val="FFFFFF"/>
                </a:solidFill>
                <a:latin typeface="Arial"/>
              </a:rPr>
              <a:t>Disseminated Mycobacterium abscessus infection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Pseudomonas aeruginosa pneumonia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Acinetobacter baumannii sepsis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Since 2018, Belgium delivers therapeutic phages to patients as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Over-the-counter medicines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Vaccines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Medical devices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400" b="1">
                <a:solidFill>
                  <a:srgbClr val="FFFFFF"/>
                </a:solidFill>
                <a:latin typeface="Arial"/>
              </a:rPr>
              <a:t>Active pharmaceutical ingredients within magistral preparations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Since 2018, Belgium delivers therapeutic phages to patients as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Over-the-counter medicines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Vaccines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Medical devices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D   </a:t>
            </a:r>
            <a:r>
              <a:rPr sz="1400" b="1">
                <a:solidFill>
                  <a:srgbClr val="FFFFFF"/>
                </a:solidFill>
                <a:latin typeface="Arial"/>
              </a:rPr>
              <a:t>Active pharmaceutical ingredients within magistral preparations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The PhagoBurn trial (Lancet ID, 2018) evaluated phage therapy against which pathogen in burn wounds?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Escherichia coli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Staphylococcus aureus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Pseudomonas aeruginosa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Klebsiella pneumoniae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The PhagoBurn trial (Lancet ID, 2018) evaluated phage therapy against which pathogen in burn wounds?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Escherichia coli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Staphylococcus aureus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Pseudomonas aeruginosa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Klebsiella pneumoniae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LBP-EC01, the first engineered (CRISPR-Cas3-enhanced) phage tested in a randomized placebo-controlled trial, targets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Escherichia coli in urinary tract infection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Clostridioides difficile colitis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Pseudomonas aeruginosa in CF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Staphylococcus aureus bacteremia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LBP-EC01, the first engineered (CRISPR-Cas3-enhanced) phage tested in a randomized placebo-controlled trial, targets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Escherichia coli in urinary tract infection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Clostridioides difficile colitis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Pseudomonas aeruginosa in CF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Staphylococcus aureus bacteremia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“Phage steering” mitigates AMR by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Increasing the MOI until resistance collapses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400" b="1">
                <a:solidFill>
                  <a:srgbClr val="FFFFFF"/>
                </a:solidFill>
                <a:latin typeface="Arial"/>
              </a:rPr>
              <a:t>Selecting phage-resistant mutants whose fitness cost re-sensitizes them to antibiotics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Blocking phage receptors with antibodies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Using phages to inactivate antibiotics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“Phage steering” mitigates AMR by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Increasing the MOI until resistance collapses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B   </a:t>
            </a:r>
            <a:r>
              <a:rPr sz="1400" b="1">
                <a:solidFill>
                  <a:srgbClr val="FFFFFF"/>
                </a:solidFill>
                <a:latin typeface="Arial"/>
              </a:rPr>
              <a:t>Selecting phage-resistant mutants whose fitness cost re-sensitizes them to antibiotics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Blocking phage receptors with antibodies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Using phages to inactivate antibiotics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A key immunological limitation of repeated intravenous phage dosing is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Permanent T-cell exhaustion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400" b="1">
                <a:solidFill>
                  <a:srgbClr val="FFFFFF"/>
                </a:solidFill>
                <a:latin typeface="Arial"/>
              </a:rPr>
              <a:t>Neutralizing antibodies that accelerate phage clearance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Phages cannot enter the bloodstream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Immediate IgE anaphylaxis in every patient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A key immunological limitation of repeated intravenous phage dosing is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Permanent T-cell exhaustion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B   </a:t>
            </a:r>
            <a:r>
              <a:rPr sz="1400" b="1">
                <a:solidFill>
                  <a:srgbClr val="FFFFFF"/>
                </a:solidFill>
                <a:latin typeface="Arial"/>
              </a:rPr>
              <a:t>Neutralizing antibodies that accelerate phage clearance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Phages cannot enter the bloodstream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Immediate IgE anaphylaxis in every patient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In the United States, compassionate-use phage therapy is typically authorized through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An FDA emergency/expanded-access IND (eIND)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EPA registration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An OTC monograph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A USDA rule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In the United States, compassionate-use phage therapy is typically authorized through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An FDA emergency/expanded-access IND (eIND)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EPA registration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An OTC monograph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A USDA rule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Before clinical use, a therapeutic phage genome must be screened to confirm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Absence of toxin, AMR and virulence genes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GC content above 60%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Uracil instead of thymine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Presence of an integrase gene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Before clinical use, a therapeutic phage genome must be screened to confirm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Absence of toxin, AMR and virulence genes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GC content above 60%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Uracil instead of thymine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Presence of an integrase gene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0"/>
            <a:ext cx="1737360" cy="0"/>
          </a:xfrm>
          <a:prstGeom prst="roundRect">
            <a:avLst/>
          </a:prstGeom>
          <a:solidFill>
            <a:srgbClr val="E61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Commercial phage preparations sprayed on ready-to-eat food to control Listeria are an example of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Pasteurization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Vaccination</a:t>
            </a:r>
          </a:p>
        </p:txBody>
      </p:sp>
      <p:sp>
        <p:nvSpPr>
          <p:cNvPr id="8" name="Hexagon 7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Fermentation</a:t>
            </a:r>
          </a:p>
        </p:txBody>
      </p:sp>
      <p:sp>
        <p:nvSpPr>
          <p:cNvPr id="9" name="Hexagon 8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Biocontrol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0"/>
            <a:ext cx="1737360" cy="0"/>
          </a:xfrm>
          <a:prstGeom prst="roundRect">
            <a:avLst/>
          </a:prstGeom>
          <a:solidFill>
            <a:srgbClr val="E61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Commercial phage preparations sprayed on ready-to-eat food to control Listeria are an example of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Pasteurization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Vaccination</a:t>
            </a:r>
          </a:p>
        </p:txBody>
      </p:sp>
      <p:sp>
        <p:nvSpPr>
          <p:cNvPr id="8" name="Hexagon 7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Fermentation</a:t>
            </a:r>
          </a:p>
        </p:txBody>
      </p:sp>
      <p:sp>
        <p:nvSpPr>
          <p:cNvPr id="9" name="Hexagon 8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Biocontrol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0"/>
            <a:ext cx="1737360" cy="0"/>
          </a:xfrm>
          <a:prstGeom prst="roundRect">
            <a:avLst/>
          </a:prstGeom>
          <a:solidFill>
            <a:srgbClr val="E61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Compared with antibiotics, a distinctive advantage of phages is that they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Kill human cells selectively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Never encounter resistance</a:t>
            </a:r>
          </a:p>
        </p:txBody>
      </p:sp>
      <p:sp>
        <p:nvSpPr>
          <p:cNvPr id="8" name="Hexagon 7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Self-amplify at the site of infection</a:t>
            </a:r>
          </a:p>
        </p:txBody>
      </p:sp>
      <p:sp>
        <p:nvSpPr>
          <p:cNvPr id="9" name="Hexagon 8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Work without any bacteria present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0"/>
            <a:ext cx="1737360" cy="0"/>
          </a:xfrm>
          <a:prstGeom prst="roundRect">
            <a:avLst/>
          </a:prstGeom>
          <a:solidFill>
            <a:srgbClr val="E61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Compared with antibiotics, a distinctive advantage of phages is that they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Kill human cells selectively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Never encounter resistance</a:t>
            </a:r>
          </a:p>
        </p:txBody>
      </p:sp>
      <p:sp>
        <p:nvSpPr>
          <p:cNvPr id="8" name="Hexagon 7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Self-amplify at the site of infection</a:t>
            </a:r>
          </a:p>
        </p:txBody>
      </p:sp>
      <p:sp>
        <p:nvSpPr>
          <p:cNvPr id="9" name="Hexagon 8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Work without any bacteria present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23560" y="1"/>
            <a:ext cx="960120" cy="960120"/>
          </a:xfrm>
          <a:prstGeom prst="roundRect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0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PHAGE ACRONYMS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98367" y="4114800"/>
            <a:ext cx="2066543" cy="384048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D3FC"/>
                </a:solidFill>
                <a:latin typeface="Arial"/>
              </a:rPr>
              <a:t>Correct +10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47791" y="4114800"/>
            <a:ext cx="1627632" cy="384048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D3FC"/>
                </a:solidFill>
                <a:latin typeface="Arial"/>
              </a:rPr>
              <a:t>Wrong -5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8303" y="4114800"/>
            <a:ext cx="1335024" cy="384048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D3FC"/>
                </a:solidFill>
                <a:latin typeface="Arial"/>
              </a:rPr>
              <a:t>30 sec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In phage anti-CRISPR biology, Aca proteins are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Acr-associated HTH transcriptional regulators of acr operons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Accessory capsid antigens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Acid-stable coat adapters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attC-associated recombinases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In phage anti-CRISPR biology, Aca proteins are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Acr-associated HTH transcriptional regulators of acr operons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Accessory capsid antigens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Acid-stable coat adapters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attC-associated recombinases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In phage genomics, DTRs and ITRs refer to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Degenerate tandem recombinases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Direct and inverted terminal repeats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Density-transfer ratios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Double-stranded transcriptional regions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In phage genomics, DTRs and ITRs refer to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Degenerate tandem recombinases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Direct and inverted terminal repeats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Density-transfer ratios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Double-stranded transcriptional regions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In the name vB_EcoM-VPAE1, the “vB” prefix denotes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Virus of Bacteria (followed by host genus and morphotype)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Verified bacteriophage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Viral barcode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Vector backbone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In the name vB_EcoM-VPAE1, the “vB” prefix denotes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Virus of Bacteria (followed by host genus and morphotype)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Verified bacteriophage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Viral barcode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Vector backbone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MIMAG stands for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Metagenome Integration Map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400" b="1">
                <a:solidFill>
                  <a:srgbClr val="FFFFFF"/>
                </a:solidFill>
                <a:latin typeface="Arial"/>
              </a:rPr>
              <a:t>Minimum Information about Microbial Archaeal Genomes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400" b="1">
                <a:solidFill>
                  <a:srgbClr val="FFFFFF"/>
                </a:solidFill>
                <a:latin typeface="Arial"/>
              </a:rPr>
              <a:t>Minimum Information about a Metagenome-Assembled Genome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Microbial Image Magnification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MIMAG stands for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Metagenome Integration Map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400" b="1">
                <a:solidFill>
                  <a:srgbClr val="FFFFFF"/>
                </a:solidFill>
                <a:latin typeface="Arial"/>
              </a:rPr>
              <a:t>Minimum Information about Microbial Archaeal Genomes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C   </a:t>
            </a:r>
            <a:r>
              <a:rPr sz="1400" b="1">
                <a:solidFill>
                  <a:srgbClr val="FFFFFF"/>
                </a:solidFill>
                <a:latin typeface="Arial"/>
              </a:rPr>
              <a:t>Minimum Information about a Metagenome-Assembled Genome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Microbial Image Magnification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In phage genomics, AMGs are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Auxiliary metabolic genes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Amplified mobile genes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Ancestral marker genes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Adaptive mutation groups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In phage genomics, AMGs are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Auxiliary metabolic genes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Amplified mobile genes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Ancestral marker genes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Adaptive mutation groups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PHROGs are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Prophage host-range groups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 restriction operon groups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Plaque heterogeneity ratings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400" b="1">
                <a:solidFill>
                  <a:srgbClr val="FFFFFF"/>
                </a:solidFill>
                <a:latin typeface="Arial"/>
              </a:rPr>
              <a:t>Phage orthologous groups for functional annotation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PHROGs are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Prophage host-range groups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 restriction operon groups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Plaque heterogeneity ratings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D   </a:t>
            </a:r>
            <a:r>
              <a:rPr sz="1400" b="1">
                <a:solidFill>
                  <a:srgbClr val="FFFFFF"/>
                </a:solidFill>
                <a:latin typeface="Arial"/>
              </a:rPr>
              <a:t>Phage orthologous groups for functional annotation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In phage–mucus research, the BAM model stands for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Bacterial adhesion matrix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Bacteriophage adherence to mucus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Biofilm-associated microcolony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Buffered agar medium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In phage–mucus research, the BAM model stands for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Bacterial adhesion matrix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Bacteriophage adherence to mucus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Biofilm-associated microcolony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Buffered agar medium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The LAL assay reagent used in phage formulation is derived from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Lactic acid bacteria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Lysed adenovirus libraries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Lipid antigen liposomes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Limulus (horseshoe crab) amebocyte lysate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The LAL assay reagent used in phage formulation is derived from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Lactic acid bacteria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Lysed adenovirus libraries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Lipid antigen liposomes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Limulus (horseshoe crab) amebocyte lysate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0"/>
            <a:ext cx="1737360" cy="0"/>
          </a:xfrm>
          <a:prstGeom prst="roundRect">
            <a:avLst/>
          </a:prstGeom>
          <a:solidFill>
            <a:srgbClr val="E61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In One-Health discussions, AMR stands for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Acquired mobile resistance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Adaptive mutation rate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Antimicrobial resistance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Antibiotic modifier region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0"/>
            <a:ext cx="1737360" cy="0"/>
          </a:xfrm>
          <a:prstGeom prst="roundRect">
            <a:avLst/>
          </a:prstGeom>
          <a:solidFill>
            <a:srgbClr val="E61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In One-Health discussions, AMR stands for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Acquired mobile resistance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Adaptive mutation rate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Antimicrobial resistance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Antibiotic modifier region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0"/>
            <a:ext cx="1737360" cy="0"/>
          </a:xfrm>
          <a:prstGeom prst="roundRect">
            <a:avLst/>
          </a:prstGeom>
          <a:solidFill>
            <a:srgbClr val="E61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In the phage morphology lab, TEM stands for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Thermal emission microscopy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Transmission electron microscopy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Total evanescent measurement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Tunneling electron mapping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0"/>
            <a:ext cx="1737360" cy="0"/>
          </a:xfrm>
          <a:prstGeom prst="roundRect">
            <a:avLst/>
          </a:prstGeom>
          <a:solidFill>
            <a:srgbClr val="E61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In the phage morphology lab, TEM stands for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Thermal emission microscopy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Transmission electron microscopy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Total evanescent measurement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Tunneling electron mapping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23560" y="1"/>
            <a:ext cx="960120" cy="960120"/>
          </a:xfrm>
          <a:prstGeom prst="roundRect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0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PHAGE ECOLOGY &amp; ONE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BD0DFF"/>
                </a:solidFill>
                <a:latin typeface="Arial"/>
              </a:rPr>
              <a:t>✦ NEW TOPIC 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98367" y="4114800"/>
            <a:ext cx="2066543" cy="384048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D3FC"/>
                </a:solidFill>
                <a:latin typeface="Arial"/>
              </a:rPr>
              <a:t>Correct +10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47791" y="4114800"/>
            <a:ext cx="1627632" cy="384048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D3FC"/>
                </a:solidFill>
                <a:latin typeface="Arial"/>
              </a:rPr>
              <a:t>Wrong -5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8303" y="4114800"/>
            <a:ext cx="1335024" cy="384048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D3FC"/>
                </a:solidFill>
                <a:latin typeface="Arial"/>
              </a:rPr>
              <a:t>30 sec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The “viral shunt” refers to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Phage lysis redirecting microbial biomass into dissolved organic matter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Aerosolization of virions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Viral transport in the bloodstream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 migration through soil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The “viral shunt” refers to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Phage lysis redirecting microbial biomass into dissolved organic matter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Aerosolization of virions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Viral transport in the bloodstream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 migration through soil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A millilitre of surface seawater typically contains about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10^3 phages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10^12 phages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10^7 phages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10^15 phages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A millilitre of surface seawater typically contains about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10^3 phages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10^12 phages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10^7 phages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10^15 phages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Cyanophages infecting Prochlorococcus often carry which host-derived gene to sustain photosynthesis during infection?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nifH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psbA (photosystem II D1 protein)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rpoB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atpD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Cyanophages infecting Prochlorococcus often carry which host-derived gene to sustain photosynthesis during infection?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nifH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psbA (photosystem II D1 protein)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rpoB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atpD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“Kill-the-winner” dynamics predicts that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Rare bacterial species are lysed first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400" b="1">
                <a:solidFill>
                  <a:srgbClr val="FFFFFF"/>
                </a:solidFill>
                <a:latin typeface="Arial"/>
              </a:rPr>
              <a:t>The most abundant host is preferentially hit by lytic phages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Phages prefer dormant hosts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Lysogeny dominates in rich environments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“Kill-the-winner” dynamics predicts that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Rare bacterial species are lysed first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B   </a:t>
            </a:r>
            <a:r>
              <a:rPr sz="1400" b="1">
                <a:solidFill>
                  <a:srgbClr val="FFFFFF"/>
                </a:solidFill>
                <a:latin typeface="Arial"/>
              </a:rPr>
              <a:t>The most abundant host is preferentially hit by lytic phages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Phages prefer dormant hosts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Lysogeny dominates in rich environments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Which phage is among the most prevalent human-associated viruses on Earth, carried in the gut of a large fraction of adults?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 Φ6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 lambda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crAssphage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 T4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Which phage is among the most prevalent human-associated viruses on Earth, carried in the gut of a large fraction of adults?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 Φ6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 lambda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crAssphage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 T4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The cholera toxin genes (ctxAB) are encoded by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 P1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 lambda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 Mu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 CTXφ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The cholera toxin genes (ctxAB) are encoded by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 P1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 lambda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 Mu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 CTXφ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Diphtheria toxin is encoded by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 CTXφ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The β-prophage (corynephage β)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 P22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 ΦKZ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Diphtheria toxin is encoded by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 CTXφ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The β-prophage (corynephage β)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 P22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 ΦKZ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Shiga toxin genes (stx) carried by lambdoid prophages are central to the virulence of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Shiga-toxigenic E. coli (STEC)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Salmonella Typhi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Listeria monocytogenes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Campylobacter jejuni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Shiga toxin genes (stx) carried by lambdoid prophages are central to the virulence of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Shiga-toxigenic E. coli (STEC)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Salmonella Typhi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Listeria monocytogenes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Campylobacter jejuni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0"/>
            <a:ext cx="1737360" cy="0"/>
          </a:xfrm>
          <a:prstGeom prst="roundRect">
            <a:avLst/>
          </a:prstGeom>
          <a:solidFill>
            <a:srgbClr val="E61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Municipal sewage is extremely rich in phages mainly because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High bacterial densities support massive phage replication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Phages resist freezing</a:t>
            </a:r>
          </a:p>
        </p:txBody>
      </p:sp>
      <p:sp>
        <p:nvSpPr>
          <p:cNvPr id="8" name="Hexagon 7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UV light creates virions</a:t>
            </a:r>
          </a:p>
        </p:txBody>
      </p:sp>
      <p:sp>
        <p:nvSpPr>
          <p:cNvPr id="9" name="Hexagon 8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Chlorine selects for viruses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0"/>
            <a:ext cx="1737360" cy="0"/>
          </a:xfrm>
          <a:prstGeom prst="roundRect">
            <a:avLst/>
          </a:prstGeom>
          <a:solidFill>
            <a:srgbClr val="E61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Municipal sewage is extremely rich in phages mainly because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High bacterial densities support massive phage replication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Phages resist freezing</a:t>
            </a:r>
          </a:p>
        </p:txBody>
      </p:sp>
      <p:sp>
        <p:nvSpPr>
          <p:cNvPr id="8" name="Hexagon 7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UV light creates virions</a:t>
            </a:r>
          </a:p>
        </p:txBody>
      </p:sp>
      <p:sp>
        <p:nvSpPr>
          <p:cNvPr id="9" name="Hexagon 8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Chlorine selects for viruses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0"/>
            <a:ext cx="1737360" cy="0"/>
          </a:xfrm>
          <a:prstGeom prst="roundRect">
            <a:avLst/>
          </a:prstGeom>
          <a:solidFill>
            <a:srgbClr val="E61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Phages are part of “One Health” thinking because they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Replace all vaccines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Chemically purify water</a:t>
            </a:r>
          </a:p>
        </p:txBody>
      </p:sp>
      <p:sp>
        <p:nvSpPr>
          <p:cNvPr id="8" name="Hexagon 7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Only infect humans</a:t>
            </a:r>
          </a:p>
        </p:txBody>
      </p:sp>
      <p:sp>
        <p:nvSpPr>
          <p:cNvPr id="9" name="Hexagon 8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400" b="1">
                <a:solidFill>
                  <a:srgbClr val="FFFFFF"/>
                </a:solidFill>
                <a:latin typeface="Arial"/>
              </a:rPr>
              <a:t>Connect human, animal and environmental microbiomes, including AMR dynamics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0"/>
            <a:ext cx="1737360" cy="0"/>
          </a:xfrm>
          <a:prstGeom prst="roundRect">
            <a:avLst/>
          </a:prstGeom>
          <a:solidFill>
            <a:srgbClr val="E61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Phages are part of “One Health” thinking because they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Replace all vaccines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Chemically purify water</a:t>
            </a:r>
          </a:p>
        </p:txBody>
      </p:sp>
      <p:sp>
        <p:nvSpPr>
          <p:cNvPr id="8" name="Hexagon 7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Only infect humans</a:t>
            </a:r>
          </a:p>
        </p:txBody>
      </p:sp>
      <p:sp>
        <p:nvSpPr>
          <p:cNvPr id="9" name="Hexagon 8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D   </a:t>
            </a:r>
            <a:r>
              <a:rPr sz="1400" b="1">
                <a:solidFill>
                  <a:srgbClr val="FFFFFF"/>
                </a:solidFill>
                <a:latin typeface="Arial"/>
              </a:rPr>
              <a:t>Connect human, animal and environmental microbiomes, including AMR dynamics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23560" y="1"/>
            <a:ext cx="960120" cy="960120"/>
          </a:xfrm>
          <a:prstGeom prst="roundRect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0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BACTERIAL DEFENSES &amp; PHAGE COUNTER-DEFENSE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BD0DFF"/>
                </a:solidFill>
                <a:latin typeface="Arial"/>
              </a:rPr>
              <a:t>✦ NEW TOPIC 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98367" y="4114800"/>
            <a:ext cx="2066543" cy="384048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D3FC"/>
                </a:solidFill>
                <a:latin typeface="Arial"/>
              </a:rPr>
              <a:t>Correct +10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47791" y="4114800"/>
            <a:ext cx="1627632" cy="384048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D3FC"/>
                </a:solidFill>
                <a:latin typeface="Arial"/>
              </a:rPr>
              <a:t>Wrong -5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8303" y="4114800"/>
            <a:ext cx="1335024" cy="384048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D3FC"/>
                </a:solidFill>
                <a:latin typeface="Arial"/>
              </a:rPr>
              <a:t>30 sec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CRISPR-Cas adaptive immunity stores phage-derived sequences in the bacterial genome as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Telomeres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Spacers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Operators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Introns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CRISPR-Cas adaptive immunity stores phage-derived sequences in the bacterial genome as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Telomeres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Spacers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Operators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Introns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Anti-CRISPR (Acr) proteins protect phages by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Blocking phage adsorption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Degrading bacterial DNA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Inducing host lysis early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Inhibiting Cas proteins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Anti-CRISPR (Acr) proteins protect phages by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Blocking phage adsorption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Degrading bacterial DNA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Inducing host lysis early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Inhibiting Cas proteins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Restriction–modification systems defend bacteria by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Pumping phages out by efflux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Methylating phage tail fibers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Cleaving unmethylated foreign DNA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Blocking bacterial ribosomes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Restriction–modification systems defend bacteria by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Pumping phages out by efflux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Methylating phage tail fibers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Cleaving unmethylated foreign DNA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Blocking bacterial ribosomes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Abortive infection (Abi) systems protect a bacterial population by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Repairing damaged DNA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400" b="1">
                <a:solidFill>
                  <a:srgbClr val="FFFFFF"/>
                </a:solidFill>
                <a:latin typeface="Arial"/>
              </a:rPr>
              <a:t>Triggering death or dormancy of the infected cell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Preventing phage adsorption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Degrading extracellular phages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Abortive infection (Abi) systems protect a bacterial population by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Repairing damaged DNA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B   </a:t>
            </a:r>
            <a:r>
              <a:rPr sz="1400" b="1">
                <a:solidFill>
                  <a:srgbClr val="FFFFFF"/>
                </a:solidFill>
                <a:latin typeface="Arial"/>
              </a:rPr>
              <a:t>Triggering death or dormancy of the infected cell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Preventing phage adsorption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Degrading extracellular phages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The arbitrium system lets temperate phages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Repair their DNA after UV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400" b="1">
                <a:solidFill>
                  <a:srgbClr val="FFFFFF"/>
                </a:solidFill>
                <a:latin typeface="Arial"/>
              </a:rPr>
              <a:t>Sense a peptide cue of host density to choose lysis vs lysogeny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Adsorb faster to pili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Resist CRISPR targeting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The arbitrium system lets temperate phages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Repair their DNA after UV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B   </a:t>
            </a:r>
            <a:r>
              <a:rPr sz="1400" b="1">
                <a:solidFill>
                  <a:srgbClr val="FFFFFF"/>
                </a:solidFill>
                <a:latin typeface="Arial"/>
              </a:rPr>
              <a:t>Sense a peptide cue of host density to choose lysis vs lysogeny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Adsorb faster to pili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Resist CRISPR targeting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Phage VP882 eavesdrops on which bacterial signal to time its lysis decision?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Teichoic acid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Lipopolysaccharide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A quorum-sensing autoinducer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Host ATP levels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Phage VP882 eavesdrops on which bacterial signal to time its lysis decision?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Teichoic acid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Lipopolysaccharide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A quorum-sensing autoinducer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Host ATP levels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Phage resistance via loss of a surface receptor often costs the bacterium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Reduced fitness or virulence, sometimes restored antibiotic sensitivity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Prophage induction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Immediate lysis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CRISPR array loss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Phage resistance via loss of a surface receptor often costs the bacterium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Reduced fitness or virulence, sometimes restored antibiotic sensitivity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Prophage induction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Immediate lysis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CRISPR array loss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A classic phage counter-defense against restriction systems is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DNA modification, e.g. glucosylated 5-hydroxymethylcytosine in T4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Faster adsorption kinetics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A longer tail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A larger capsid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A classic phage counter-defense against restriction systems is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DNA modification, e.g. glucosylated 5-hydroxymethylcytosine in T4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Faster adsorption kinetics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A longer tail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A larger capsid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0"/>
            <a:ext cx="1737360" cy="0"/>
          </a:xfrm>
          <a:prstGeom prst="roundRect">
            <a:avLst/>
          </a:prstGeom>
          <a:solidFill>
            <a:srgbClr val="E61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Superinfection exclusion means that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A resident prophage blocks secondary infection by related phages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Two phages co-infect one cell</a:t>
            </a:r>
          </a:p>
        </p:txBody>
      </p:sp>
      <p:sp>
        <p:nvSpPr>
          <p:cNvPr id="8" name="Hexagon 7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Phages exclude antibiotics from the cell</a:t>
            </a:r>
          </a:p>
        </p:txBody>
      </p:sp>
      <p:sp>
        <p:nvSpPr>
          <p:cNvPr id="9" name="Hexagon 8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Bacteria pump phages out by efflux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0"/>
            <a:ext cx="1737360" cy="0"/>
          </a:xfrm>
          <a:prstGeom prst="roundRect">
            <a:avLst/>
          </a:prstGeom>
          <a:solidFill>
            <a:srgbClr val="E61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Superinfection exclusion means that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A resident prophage blocks secondary infection by related phages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Two phages co-infect one cell</a:t>
            </a:r>
          </a:p>
        </p:txBody>
      </p:sp>
      <p:sp>
        <p:nvSpPr>
          <p:cNvPr id="8" name="Hexagon 7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Phages exclude antibiotics from the cell</a:t>
            </a:r>
          </a:p>
        </p:txBody>
      </p:sp>
      <p:sp>
        <p:nvSpPr>
          <p:cNvPr id="9" name="Hexagon 8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Bacteria pump phages out by efflux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0"/>
            <a:ext cx="1737360" cy="0"/>
          </a:xfrm>
          <a:prstGeom prst="roundRect">
            <a:avLst/>
          </a:prstGeom>
          <a:solidFill>
            <a:srgbClr val="E61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BREX, DISARM, Thoeris and Gabija are examples of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Plasmid incompatibility groups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Staining methods</a:t>
            </a:r>
          </a:p>
        </p:txBody>
      </p:sp>
      <p:sp>
        <p:nvSpPr>
          <p:cNvPr id="8" name="Hexagon 7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 families</a:t>
            </a:r>
          </a:p>
        </p:txBody>
      </p:sp>
      <p:sp>
        <p:nvSpPr>
          <p:cNvPr id="9" name="Hexagon 8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Bacterial anti-phage defense systems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0"/>
            <a:ext cx="1737360" cy="0"/>
          </a:xfrm>
          <a:prstGeom prst="roundRect">
            <a:avLst/>
          </a:prstGeom>
          <a:solidFill>
            <a:srgbClr val="E61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 TOPIC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BREX, DISARM, Thoeris and Gabija are examples of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Plasmid incompatibility groups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Staining methods</a:t>
            </a:r>
          </a:p>
        </p:txBody>
      </p:sp>
      <p:sp>
        <p:nvSpPr>
          <p:cNvPr id="8" name="Hexagon 7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 families</a:t>
            </a:r>
          </a:p>
        </p:txBody>
      </p:sp>
      <p:sp>
        <p:nvSpPr>
          <p:cNvPr id="9" name="Hexagon 8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Bacterial anti-phage defense systems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601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</a:rPr>
              <a:t>Break Time!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01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BD0DFF"/>
                </a:solidFill>
                <a:latin typeface="Arial"/>
              </a:rPr>
              <a:t>5 MIN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23560" y="1"/>
            <a:ext cx="960120" cy="960120"/>
          </a:xfrm>
          <a:prstGeom prst="roundRect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0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RAPID FIRE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44671" y="4114800"/>
            <a:ext cx="1920240" cy="384048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D3FC"/>
                </a:solidFill>
                <a:latin typeface="Arial"/>
              </a:rPr>
              <a:t>Correct +5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47791" y="4114800"/>
            <a:ext cx="1481328" cy="384048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D3FC"/>
                </a:solidFill>
                <a:latin typeface="Arial"/>
              </a:rPr>
              <a:t>Wrong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1999" y="4114800"/>
            <a:ext cx="1335024" cy="384048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D3FC"/>
                </a:solidFill>
                <a:latin typeface="Arial"/>
              </a:rPr>
              <a:t>60 sec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Lytic Legends  ·  question 1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Enzyme that degrades the peptidoglycan at the end of the lytic cycle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Lytic Legends  ·  question 1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Enzyme that degrades the peptidoglycan at the end of the lytic cycle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Endolysin (lysozyme)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Lytic Legends  ·  question 2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Term for a phage genome integrated in the host chromosome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Lytic Legends  ·  question 2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Term for a phage genome integrated in the host chromosome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Prophage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Lytic Legends  ·  question 3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UV light or mitomycin C triggers this event in a lysogen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Lytic Legends  ·  question 3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UV light or mitomycin C triggers this event in a lysogen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Prophage induction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Lytic Legends  ·  question 4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The protein shell that encloses the phage genome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Lytic Legends  ·  question 4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The protein shell that encloses the phage genome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Capsid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Lytic Legends  ·  question 5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The myovirus structure that contracts during infection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Lytic Legends  ·  question 5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The myovirus structure that contracts during infection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Tail sheath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Lytic Legends  ·  question 6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Number of progeny released per infected cell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Lytic Legends  ·  question 6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Number of progeny released per infected cell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Burst size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Lytic Legends  ·  question 7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Filamentous phage widely used for phage display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Lytic Legends  ·  question 7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Filamentous phage widely used for phage display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M13 (f1/fd)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Lytic Legends  ·  question 8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Ions added to media because many phages need them for adsorption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Lytic Legends  ·  question 8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Ions added to media because many phages need them for adsorption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Divalent cations (Ca2+ / Mg2+)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Biofilm Breakers  ·  question 1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Matrix component degraded by phage depolymerases in a biofilm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Biofilm Breakers  ·  question 1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Matrix component degraded by phage depolymerases in a biofilm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Exopolysaccharide (EPS / capsule)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Biofilm Breakers  ·  question 2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Phage-mediated transfer of bacterial DNA between cells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Biofilm Breakers  ·  question 2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Phage-mediated transfer of bacterial DNA between cells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Transduction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Biofilm Breakers  ·  question 3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Microscopy that images phages in a near-native frozen-hydrated state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Biofilm Breakers  ·  question 3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Microscopy that images phages in a near-native frozen-hydrated state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Cryo-EM (cryo-TEM)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Biofilm Breakers  ·  question 4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The phage life cycle that ends in host lysis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Biofilm Breakers  ·  question 4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The phage life cycle that ends in host lysis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Lytic cycle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Biofilm Breakers  ·  question 5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Extrachromosomal bacterial element that often carries AMR genes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Biofilm Breakers  ·  question 5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Extrachromosomal bacterial element that often carries AMR genes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Plasmid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Biofilm Breakers  ·  question 6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A phage particle that lacks its genome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Biofilm Breakers  ·  question 6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A phage particle that lacks its genome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Empty capsid (ghost)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Biofilm Breakers  ·  question 7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The workbench host bacterium of the T-phages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Biofilm Breakers  ·  question 7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The workbench host bacterium of the T-phages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Escherichia coli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Biofilm Breakers  ·  question 8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Ecological model: phages lyse the most abundant host (3 words, “kill the …”)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Biofilm Breakers  ·  question 8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Ecological model: phages lyse the most abundant host (3 words, “kill the …”)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Kill-the-winner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Phage Pharmers  ·  question 1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US regulatory route for compassionate phage use (3 letters + IND)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Phage Pharmers  ·  question 1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US regulatory route for compassionate phage use (3 letters + IND)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eIND (emergency/expanded-access IND)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Phage Pharmers  ·  question 2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Full name of PEG, used with NaCl to precipitate phages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Phage Pharmers  ·  question 2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Full name of PEG, used with NaCl to precipitate phages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Polyethylene glycol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Phage Pharmers  ·  question 3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Instrument that separates phages by buoyant density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Phage Pharmers  ·  question 3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Instrument that separates phages by buoyant density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(Ultra)centrifuge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Phage Pharmers  ·  question 4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Enzymes that cut DNA at specific sites, first studied in phage biology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Phage Pharmers  ·  question 4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Enzymes that cut DNA at specific sites, first studied in phage biology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Restriction endonucleases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Phage Pharmers  ·  question 5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Coat proteins used to display peptides on M13 (two names)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Phage Pharmers  ·  question 5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Coat proteins used to display peptides on M13 (two names)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pIII / pVIII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Phage Pharmers  ·  question 6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Route used to deliver phages to CF lungs in the 2025 first-in-human randomized trial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Phage Pharmers  ·  question 6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Route used to deliver phages to CF lungs in the 2025 first-in-human randomized trial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Nebulized / inhaled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Phage Pharmers  ·  question 7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Chelator of divalent cations that can block phage adsorption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Phage Pharmers  ·  question 7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Chelator of divalent cations that can block phage adsorption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EDTA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Phage Pharmers  ·  question 8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Phages that kill the host and never lysogenize are called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Phage Pharmers  ·  question 8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Phages that kill the host and never lysogenize are called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Virulent (strictly lytic) phages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Virion Architects  ·  question 1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Tubulin-like phage protein that forms the spindle of jumbo phages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Virion Architects  ·  question 1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Tubulin-like phage protein that forms the spindle of jumbo phages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PhuZ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Virion Architects  ·  question 2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Structural term for the elongated (non-spherical) head of T4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Virion Architects  ·  question 2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Structural term for the elongated (non-spherical) head of T4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Prolate icosahedral head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Virion Architects  ·  question 3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Capsid vertex through which DNA enters during assembly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Virion Architects  ·  question 3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Capsid vertex through which DNA enters during assembly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Portal vertex (portal protein)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Virion Architects  ·  question 4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ATP-driven enzyme that packs DNA into the procapsid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Virion Architects  ·  question 4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ATP-driven enzyme that packs DNA into the procapsid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Terminase (large subunit)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Virion Architects  ·  question 5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Morphotype with a long, non-contractile tail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Virion Architects  ·  question 5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Morphotype with a long, non-contractile tail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Siphovirus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Virion Architects  ·  question 6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Geometric term for a capsid with 20 triangular faces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Virion Architects  ·  question 6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Geometric term for a capsid with 20 triangular faces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Icosahedral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Virion Architects  ·  question 7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Hollow tube through which the genome crosses the envelope in tailed phages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Virion Architects  ·  question 7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Hollow tube through which the genome crosses the envelope in tailed phages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Tail tube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Virion Architects  ·  question 8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The extra lipid layer present in Φ6 but absent in T4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11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A7BD"/>
                </a:solidFill>
                <a:latin typeface="Arial"/>
              </a:rPr>
              <a:t>Virion Architects  ·  question 8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The extra lipid layer present in Φ6 but absent in T4</a:t>
            </a:r>
          </a:p>
        </p:txBody>
      </p:sp>
      <p:sp>
        <p:nvSpPr>
          <p:cNvPr id="5" name="Hexagon 4"/>
          <p:cNvSpPr/>
          <p:nvPr/>
        </p:nvSpPr>
        <p:spPr>
          <a:xfrm>
            <a:off x="2743200" y="4023360"/>
            <a:ext cx="6702552" cy="868680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   </a:t>
            </a:r>
            <a:r>
              <a:rPr sz="2000" b="1">
                <a:solidFill>
                  <a:srgbClr val="FFFFFF"/>
                </a:solidFill>
                <a:latin typeface="Arial"/>
              </a:rPr>
              <a:t>Envelope (membrane)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23560" y="1"/>
            <a:ext cx="960120" cy="960120"/>
          </a:xfrm>
          <a:prstGeom prst="roundRect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0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TIE-BREAKER ROUND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46807" y="4114800"/>
            <a:ext cx="2066543" cy="384048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D3FC"/>
                </a:solidFill>
                <a:latin typeface="Arial"/>
              </a:rPr>
              <a:t>Correct +20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96231" y="4114800"/>
            <a:ext cx="1773936" cy="384048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D3FC"/>
                </a:solidFill>
                <a:latin typeface="Arial"/>
              </a:rPr>
              <a:t>Wrong -10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53047" y="4114800"/>
            <a:ext cx="1335024" cy="384048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D3FC"/>
                </a:solidFill>
                <a:latin typeface="Arial"/>
              </a:rPr>
              <a:t>60 sec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70951" y="4114800"/>
            <a:ext cx="1773936" cy="384048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D3FC"/>
                </a:solidFill>
                <a:latin typeface="Arial"/>
              </a:rPr>
              <a:t>passed +5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The T4 genome is circularly permuted and terminally redundant. Which packaging strategy generates this architecture?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Headful packaging from concatemers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cos-site cleavage of concatemers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Protein-primed replication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Rolling-circle of monomers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The T4 genome is circularly permuted and terminally redundant. Which packaging strategy generates this architecture?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Headful packaging from concatemers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cos-site cleavage of concatemers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Protein-primed replication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Rolling-circle of monomers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DNA replication of phage Φ29 is primed by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Host DnaA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A primase (DnaG)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A terminal protein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A ribozyme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DNA replication of phage Φ29 is primed by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Host DnaA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A primase (DnaG)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A terminal protein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A ribozyme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In the lambda decision circuit, high MOI together with a poor physiological host state favours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Pseudolysogeny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Lysis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Superinfection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Lysogeny (stabilized cII)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In the lambda decision circuit, high MOI together with a poor physiological host state favours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Pseudolysogeny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Lysis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Superinfection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Lysogeny (stabilized cII)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T4 glucosylates its 5-hydroxymethylcytosine DNA mainly to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Protect the genome from host restriction endonucleases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Aid adsorption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Assist capsid assembly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Speed up replication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T4 glucosylates its 5-hydroxymethylcytosine DNA mainly to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Protect the genome from host restriction endonucleases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Aid adsorption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Assist capsid assembly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Speed up replication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Which anti-phage system signals through a cyclic oligonucleotide (cGAMP) to activate a nuclease effector?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Retrons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Septu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Gabija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CBASS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Which anti-phage system signals through a cyclic oligonucleotide (cGAMP) to activate a nuclease effector?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Retrons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Septu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Gabija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CBASS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The lambda Red recombineering toolkit consists of the proteins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EcoRI, EcoRV, ligase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RecA, RecB, RecC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Exo, Beta, Gam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Int, Xis, Gam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The lambda Red recombineering toolkit consists of the proteins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EcoRI, EcoRV, ligase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RecA, RecB, RecC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Exo, Beta, Gam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Int, Xis, Gam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In the 2025 first-in-human randomized trial (BX004-A), the phage cocktail reached the CF lung by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Intravenous infusion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Nebulization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Topical gel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Oral capsules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In the 2025 first-in-human randomized trial (BX004-A), the phage cocktail reached the CF lung by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Intravenous infusion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Nebulization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Topical gel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Oral capsules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After a strong phage-driven selective sweep in a bacterial community, which metric is expected to DECREASE?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 titer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Shannon diversity index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Burst size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MOI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After a strong phage-driven selective sweep in a bacterial community, which metric is expected to DECREASE?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 titer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Shannon diversity index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Burst size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MOI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23560" y="1"/>
            <a:ext cx="960120" cy="960120"/>
          </a:xfrm>
          <a:prstGeom prst="roundRect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0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EMOJI REBUS &amp; PHAGE PERSONALS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BD0DFF"/>
                </a:solidFill>
                <a:latin typeface="Arial"/>
              </a:rPr>
              <a:t>✦ FUN ROUND 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1519" y="4114800"/>
            <a:ext cx="2066543" cy="384048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D3FC"/>
                </a:solidFill>
                <a:latin typeface="Arial"/>
              </a:rPr>
              <a:t>Correct +10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20943" y="4114800"/>
            <a:ext cx="1481328" cy="384048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D3FC"/>
                </a:solidFill>
                <a:latin typeface="Arial"/>
              </a:rPr>
              <a:t>Wrong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85151" y="4114800"/>
            <a:ext cx="1335024" cy="384048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D3FC"/>
                </a:solidFill>
                <a:latin typeface="Arial"/>
              </a:rPr>
              <a:t>30 sec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FUN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🦠️🧬📖  — decode the rebus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Restriction–modification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CRISPR-Cas adaptive immunity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Abortive infection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Generalized transduction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FUN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🦠️🧬📖  — decode the rebus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Restriction–modification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CRISPR-Cas adaptive immunity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Abortive infection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Generalized transduction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FUN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😴☀️⚡🦠  — decode the rebus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Prophage induction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Lysogeny establishment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Superinfection exclusion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Pseudolysogeny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FUN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😴☀️⚡🦠  — decode the rebus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Prophage induction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Lysogeny establishment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Superinfection exclusion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Pseudolysogeny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FUN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🧨🏙️🦠  — decode the rebus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Endolysin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Spanin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Depolymerase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Integrase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FUN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🧨🏙️🦠  — decode the rebus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Endolysin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Spanin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Depolymerase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Integrase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FUN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📦🎈  — decode the rebus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cos-site packaging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Protein-primed replication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Rolling-circle replication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Headful (pac) packaging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FUN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📦🎈  — decode the rebus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cos-site packaging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Protein-primed replication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Rolling-circle replication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Headful (pac) packaging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FUN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🕵️🦀  — decode the rebus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Plaque assay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LAL endotoxin assay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PFGE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ELISA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FUN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🕵️🦀  — decode the rebus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Plaque assay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LAL endotoxin assay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PFGE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ELISA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FUN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❄️🦠  — decode the rebus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Cryo-EM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Negative-stain TEM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Atomic force microscopy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Phase-contrast light microscopy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FUN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❄️🦠  — decode the rebus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Cryo-EM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Negative-stain TEM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Atomic force microscopy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Phase-contrast light microscopy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FUN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🎭️🧬  — decode the rebus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 typing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Viromics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 display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Reassortment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FUN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🎭️🧬  — decode the rebus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 typing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Viromics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 display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Reassortment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FUN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Phage personal ad: “Seeking F-pilus-positive partner; ssDNA exchange welcome; no lysis required — I prefer a long, chronic togetherness.” Who wrote it?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 T4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 lambda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 Φ6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 M13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FUN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Phage personal ad: “Seeking F-pilus-positive partner; ssDNA exchange welcome; no lysis required — I prefer a long, chronic togetherness.” Who wrote it?</a:t>
            </a:r>
          </a:p>
        </p:txBody>
      </p:sp>
      <p:sp>
        <p:nvSpPr>
          <p:cNvPr id="5" name="Hexagon 4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 T4</a:t>
            </a:r>
          </a:p>
        </p:txBody>
      </p:sp>
      <p:sp>
        <p:nvSpPr>
          <p:cNvPr id="6" name="Hexagon 5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 lambda</a:t>
            </a:r>
          </a:p>
        </p:txBody>
      </p:sp>
      <p:sp>
        <p:nvSpPr>
          <p:cNvPr id="7" name="Hexagon 6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 Φ6</a:t>
            </a:r>
          </a:p>
        </p:txBody>
      </p:sp>
      <p:sp>
        <p:nvSpPr>
          <p:cNvPr id="8" name="Hexagon 7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Phage M13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0"/>
            <a:ext cx="1737360" cy="0"/>
          </a:xfrm>
          <a:prstGeom prst="roundRect">
            <a:avLst/>
          </a:prstGeom>
          <a:solidFill>
            <a:srgbClr val="E61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FUN 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Which emoji set best describes a TEMPERATE phage?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🛌🧬🤝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💥🦠☠️</a:t>
            </a:r>
          </a:p>
        </p:txBody>
      </p:sp>
      <p:sp>
        <p:nvSpPr>
          <p:cNvPr id="8" name="Hexagon 7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🧨🔥💀</a:t>
            </a:r>
          </a:p>
        </p:txBody>
      </p:sp>
      <p:sp>
        <p:nvSpPr>
          <p:cNvPr id="9" name="Hexagon 8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🏃🦠⏱️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0"/>
            <a:ext cx="1737360" cy="0"/>
          </a:xfrm>
          <a:prstGeom prst="roundRect">
            <a:avLst/>
          </a:prstGeom>
          <a:solidFill>
            <a:srgbClr val="E61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FUN 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Which emoji set best describes a TEMPERATE phage?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🛌🧬🤝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💥🦠☠️</a:t>
            </a:r>
          </a:p>
        </p:txBody>
      </p:sp>
      <p:sp>
        <p:nvSpPr>
          <p:cNvPr id="8" name="Hexagon 7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🧨🔥💀</a:t>
            </a:r>
          </a:p>
        </p:txBody>
      </p:sp>
      <p:sp>
        <p:nvSpPr>
          <p:cNvPr id="9" name="Hexagon 8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🏃🦠⏱️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0"/>
            <a:ext cx="1737360" cy="0"/>
          </a:xfrm>
          <a:prstGeom prst="roundRect">
            <a:avLst/>
          </a:prstGeom>
          <a:solidFill>
            <a:srgbClr val="E61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FUN 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Personal ad: “High-pressure type (~50 atm). I contract on first contact and deliver my DNA fast. No commitment issues — strictly lytic.” Identify the advertiser.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M13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T4</a:t>
            </a:r>
          </a:p>
        </p:txBody>
      </p:sp>
      <p:sp>
        <p:nvSpPr>
          <p:cNvPr id="8" name="Hexagon 7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ΦX174</a:t>
            </a:r>
          </a:p>
        </p:txBody>
      </p:sp>
      <p:sp>
        <p:nvSpPr>
          <p:cNvPr id="9" name="Hexagon 8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MS2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0"/>
            <a:ext cx="1737360" cy="0"/>
          </a:xfrm>
          <a:prstGeom prst="roundRect">
            <a:avLst/>
          </a:prstGeom>
          <a:solidFill>
            <a:srgbClr val="E61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0"/>
            <a:ext cx="1737360" cy="0"/>
          </a:xfrm>
          <a:prstGeom prst="roundRect">
            <a:avLst/>
          </a:prstGeom>
          <a:solidFill>
            <a:srgbClr val="8A2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FUN 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Personal ad: “High-pressure type (~50 atm). I contract on first contact and deliver my DNA fast. No commitment issues — strictly lytic.” Identify the advertiser.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M13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T4</a:t>
            </a:r>
          </a:p>
        </p:txBody>
      </p:sp>
      <p:sp>
        <p:nvSpPr>
          <p:cNvPr id="8" name="Hexagon 7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ΦX174</a:t>
            </a:r>
          </a:p>
        </p:txBody>
      </p:sp>
      <p:sp>
        <p:nvSpPr>
          <p:cNvPr id="9" name="Hexagon 8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MS2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23560" y="1"/>
            <a:ext cx="960120" cy="960120"/>
          </a:xfrm>
          <a:prstGeom prst="roundRect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0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LYTIC LAUGHS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1519" y="4114800"/>
            <a:ext cx="2066543" cy="384048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D3FC"/>
                </a:solidFill>
                <a:latin typeface="Arial"/>
              </a:rPr>
              <a:t>Correct +10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20943" y="4114800"/>
            <a:ext cx="1481328" cy="384048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D3FC"/>
                </a:solidFill>
                <a:latin typeface="Arial"/>
              </a:rPr>
              <a:t>Wrong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85151" y="4114800"/>
            <a:ext cx="1335024" cy="384048"/>
          </a:xfrm>
          <a:prstGeom prst="roundRect">
            <a:avLst/>
          </a:prstGeom>
          <a:solidFill>
            <a:srgbClr val="0C0F16"/>
          </a:solidFill>
          <a:ln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D3FC"/>
                </a:solidFill>
                <a:latin typeface="Arial"/>
              </a:rPr>
              <a:t>30 sec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Why did the phage break up with the pilus?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“No chemistry in the periplasm.”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“It was too contractile.”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“Long-distance lysis never works.”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400" b="1">
                <a:solidFill>
                  <a:srgbClr val="FFFFFF"/>
                </a:solidFill>
                <a:latin typeface="Arial"/>
              </a:rPr>
              <a:t>“The relationship was only surface-level attachment.”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Why did the phage break up with the pilus?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“No chemistry in the periplasm.”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“It was too contractile.”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“Long-distance lysis never works.”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D   </a:t>
            </a:r>
            <a:r>
              <a:rPr sz="1400" b="1">
                <a:solidFill>
                  <a:srgbClr val="FFFFFF"/>
                </a:solidFill>
                <a:latin typeface="Arial"/>
              </a:rPr>
              <a:t>“The relationship was only surface-level attachment.”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What is a bacteriophage's favourite genre of music?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Ambient — like the eclipse period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Smooth jazz for slow adsorption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Opera, because it's always dramatic lysis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Lytic metal — full of breakdowns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What is a bacteriophage's favourite genre of music?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Ambient — like the eclipse period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Smooth jazz for slow adsorption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Opera, because it's always dramatic lysis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Lytic metal — full of breakdowns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Why don't phages use dating apps?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No signal inside the gut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400" b="1">
                <a:solidFill>
                  <a:srgbClr val="FFFFFF"/>
                </a:solidFill>
                <a:latin typeface="Arial"/>
              </a:rPr>
              <a:t>They only ever swipe right on one specific host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Too many matches cause lysis from without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Their profiles are only ~50 kb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Why don't phages use dating apps?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No signal inside the gut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B   </a:t>
            </a:r>
            <a:r>
              <a:rPr sz="1400" b="1">
                <a:solidFill>
                  <a:srgbClr val="FFFFFF"/>
                </a:solidFill>
                <a:latin typeface="Arial"/>
              </a:rPr>
              <a:t>They only ever swipe right on one specific host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Too many matches cause lysis from without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Their profiles are only ~50 kb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Where does a phage see itself in 30 minutes?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“In a preprint.”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“At a plaquelytics retreat.”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400" b="1">
                <a:solidFill>
                  <a:srgbClr val="FFFFFF"/>
                </a:solidFill>
                <a:latin typeface="Arial"/>
              </a:rPr>
              <a:t>“As ~200 copies of myself inside one very surprised bacterium.”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“Integrated, settled and dormant.”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Where does a phage see itself in 30 minutes?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“In a preprint.”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“At a plaquelytics retreat.”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C   </a:t>
            </a:r>
            <a:r>
              <a:rPr sz="1400" b="1">
                <a:solidFill>
                  <a:srgbClr val="FFFFFF"/>
                </a:solidFill>
                <a:latin typeface="Arial"/>
              </a:rPr>
              <a:t>“As ~200 copies of myself inside one very surprised bacterium.”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“Integrated, settled and dormant.”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Why was the temperate phage terrible at commitment?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It kept integrating into relationships and going dormant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It lysed every relationship too fast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It had no receptors for feelings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It was too virulent to care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Why was the temperate phage terrible at commitment?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It kept integrating into relationships and going dormant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It lysed every relationship too fast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It had no receptors for feelings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It was too virulent to care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What did the depolymerase say arriving at the biofilm party?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“I brought capsules for the road.”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400" b="1">
                <a:solidFill>
                  <a:srgbClr val="FFFFFF"/>
                </a:solidFill>
                <a:latin typeface="Arial"/>
              </a:rPr>
              <a:t>“Relax — I'll break down the matrix and free everyone.”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“More EPS for everyone!”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“Who invited the antibiotics?”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What did the depolymerase say arriving at the biofilm party?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“I brought capsules for the road.”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B   </a:t>
            </a:r>
            <a:r>
              <a:rPr sz="1400" b="1">
                <a:solidFill>
                  <a:srgbClr val="FFFFFF"/>
                </a:solidFill>
                <a:latin typeface="Arial"/>
              </a:rPr>
              <a:t>“Relax — I'll break down the matrix and free everyone.”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“More EPS for everyone!”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“Who invited the antibiotics?”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Why do phages make bad stand-up comedians?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Their delivery is always lytic — they kill the room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They are too small for the microphone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They only infect the hecklers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They have no tail for timing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Why do phages make bad stand-up comedians?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A   </a:t>
            </a:r>
            <a:r>
              <a:rPr sz="1400" b="1">
                <a:solidFill>
                  <a:srgbClr val="FFFFFF"/>
                </a:solidFill>
                <a:latin typeface="Arial"/>
              </a:rPr>
              <a:t>Their delivery is always lytic — they kill the room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They are too small for the microphone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600" b="1">
                <a:solidFill>
                  <a:srgbClr val="FFFFFF"/>
                </a:solidFill>
                <a:latin typeface="Arial"/>
              </a:rPr>
              <a:t>They only infect the hecklers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They have no tail for timing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What is a jumbo phage's excuse at the gym?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“I skip tail day.”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“My sheath is already too tight.”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C   </a:t>
            </a:r>
            <a:r>
              <a:rPr sz="1400" b="1">
                <a:solidFill>
                  <a:srgbClr val="FFFFFF"/>
                </a:solidFill>
                <a:latin typeface="Arial"/>
              </a:rPr>
              <a:t>“I carry a 500-kb genome — that's enough baggage.”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“No capsid space left.”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ROUND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What is a jumbo phage's excuse at the gym?</a:t>
            </a:r>
          </a:p>
        </p:txBody>
      </p:sp>
      <p:sp>
        <p:nvSpPr>
          <p:cNvPr id="4" name="Hexagon 3"/>
          <p:cNvSpPr/>
          <p:nvPr/>
        </p:nvSpPr>
        <p:spPr>
          <a:xfrm>
            <a:off x="15494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A   </a:t>
            </a:r>
            <a:r>
              <a:rPr sz="1600" b="1">
                <a:solidFill>
                  <a:srgbClr val="FFFFFF"/>
                </a:solidFill>
                <a:latin typeface="Arial"/>
              </a:rPr>
              <a:t>“I skip tail day.”</a:t>
            </a:r>
          </a:p>
        </p:txBody>
      </p:sp>
      <p:sp>
        <p:nvSpPr>
          <p:cNvPr id="5" name="Hexagon 4"/>
          <p:cNvSpPr/>
          <p:nvPr/>
        </p:nvSpPr>
        <p:spPr>
          <a:xfrm>
            <a:off x="6426200" y="3695699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B   </a:t>
            </a:r>
            <a:r>
              <a:rPr sz="1600" b="1">
                <a:solidFill>
                  <a:srgbClr val="FFFFFF"/>
                </a:solidFill>
                <a:latin typeface="Arial"/>
              </a:rPr>
              <a:t>“My sheath is already too tight.”</a:t>
            </a:r>
          </a:p>
        </p:txBody>
      </p:sp>
      <p:sp>
        <p:nvSpPr>
          <p:cNvPr id="6" name="Hexagon 5"/>
          <p:cNvSpPr/>
          <p:nvPr/>
        </p:nvSpPr>
        <p:spPr>
          <a:xfrm>
            <a:off x="1549400" y="4876800"/>
            <a:ext cx="4216400" cy="761999"/>
          </a:xfrm>
          <a:prstGeom prst="hexagon">
            <a:avLst/>
          </a:prstGeom>
          <a:gradFill rotWithShape="1">
            <a:gsLst>
              <a:gs pos="0">
                <a:srgbClr val="0A66FF"/>
              </a:gs>
              <a:gs pos="100000">
                <a:srgbClr val="8A2BF5"/>
              </a:gs>
            </a:gsLst>
            <a:lin scaled="0" ang="0"/>
          </a:gradFill>
          <a:ln w="12700">
            <a:solidFill>
              <a:srgbClr val="9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FF4DF0"/>
                </a:solidFill>
                <a:latin typeface="Arial"/>
              </a:rPr>
              <a:t>C   </a:t>
            </a:r>
            <a:r>
              <a:rPr sz="1400" b="1">
                <a:solidFill>
                  <a:srgbClr val="FFFFFF"/>
                </a:solidFill>
                <a:latin typeface="Arial"/>
              </a:rPr>
              <a:t>“I carry a 500-kb genome — that's enough baggage.”</a:t>
            </a:r>
          </a:p>
        </p:txBody>
      </p:sp>
      <p:sp>
        <p:nvSpPr>
          <p:cNvPr id="7" name="Hexagon 6"/>
          <p:cNvSpPr/>
          <p:nvPr/>
        </p:nvSpPr>
        <p:spPr>
          <a:xfrm>
            <a:off x="6426200" y="4876800"/>
            <a:ext cx="4216400" cy="761999"/>
          </a:xfrm>
          <a:prstGeom prst="hexagon">
            <a:avLst/>
          </a:prstGeom>
          <a:solidFill>
            <a:srgbClr val="0C0F16"/>
          </a:solidFill>
          <a:ln w="12700">
            <a:solidFill>
              <a:srgbClr val="3A4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/>
          <a:lstStyle/>
          <a:p>
            <a:pPr algn="ctr"/>
            <a:r>
              <a:rPr sz="2400" b="1">
                <a:solidFill>
                  <a:srgbClr val="BD0DFF"/>
                </a:solidFill>
                <a:latin typeface="Arial"/>
              </a:rPr>
              <a:t>D   </a:t>
            </a:r>
            <a:r>
              <a:rPr sz="1600" b="1">
                <a:solidFill>
                  <a:srgbClr val="FFFFFF"/>
                </a:solidFill>
                <a:latin typeface="Arial"/>
              </a:rPr>
              <a:t>“No capsid space left.”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01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Arial"/>
              </a:rPr>
              <a:t>Thank you for your answers!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60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9AA7BD"/>
                </a:solidFill>
                <a:latin typeface="Arial"/>
              </a:rPr>
              <a:t>See the scoreboard for final standings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